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391" r:id="rId7"/>
    <p:sldId id="394" r:id="rId8"/>
    <p:sldId id="393" r:id="rId9"/>
    <p:sldId id="395" r:id="rId10"/>
    <p:sldId id="396" r:id="rId11"/>
    <p:sldId id="397" r:id="rId12"/>
    <p:sldId id="398" r:id="rId13"/>
    <p:sldId id="399" r:id="rId14"/>
    <p:sldId id="400" r:id="rId15"/>
    <p:sldId id="401" r:id="rId16"/>
    <p:sldId id="40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4" autoAdjust="0"/>
    <p:restoredTop sz="94660"/>
  </p:normalViewPr>
  <p:slideViewPr>
    <p:cSldViewPr snapToGrid="0">
      <p:cViewPr>
        <p:scale>
          <a:sx n="100" d="100"/>
          <a:sy n="100" d="100"/>
        </p:scale>
        <p:origin x="990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59307-FD9A-4506-868F-38EAB1970A9E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DD0BA-05A3-4E41-BF9C-58D71883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40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07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7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3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41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61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1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23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15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79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111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0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4688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33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62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1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642CD-AAAD-4E54-BAD2-9AEC05630F5D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6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54D1-B773-6DC6-6A36-C4903D076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Computer Organization &amp; Assembly Language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092D9-7E8A-0F7D-03F8-2132B9F1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Lecture 3</a:t>
            </a:r>
          </a:p>
        </p:txBody>
      </p:sp>
    </p:spTree>
    <p:extLst>
      <p:ext uri="{BB962C8B-B14F-4D97-AF65-F5344CB8AC3E}">
        <p14:creationId xmlns:p14="http://schemas.microsoft.com/office/powerpoint/2010/main" val="372024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0CE84-A917-CFC6-7EA0-12595BA28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Model x8086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E69E3-EB4C-7CBD-F6F0-1B1FF073F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Structure of an Assembly Language Program</a:t>
            </a:r>
          </a:p>
          <a:p>
            <a:r>
              <a:rPr lang="en-US" dirty="0"/>
              <a:t>.model small ; Select a memory model.</a:t>
            </a:r>
          </a:p>
          <a:p>
            <a:r>
              <a:rPr lang="en-US" dirty="0"/>
              <a:t>.stack </a:t>
            </a:r>
            <a:r>
              <a:rPr lang="en-US" dirty="0" err="1"/>
              <a:t>stack_size</a:t>
            </a:r>
            <a:r>
              <a:rPr lang="en-US" dirty="0"/>
              <a:t> ; Define the stack size</a:t>
            </a:r>
          </a:p>
          <a:p>
            <a:r>
              <a:rPr lang="en-US" dirty="0"/>
              <a:t>.data ; Variable and array declarations;</a:t>
            </a:r>
          </a:p>
          <a:p>
            <a:r>
              <a:rPr lang="en-US" dirty="0"/>
              <a:t>; Declare variables at this level</a:t>
            </a:r>
          </a:p>
          <a:p>
            <a:r>
              <a:rPr lang="en-US" dirty="0"/>
              <a:t>.code</a:t>
            </a:r>
          </a:p>
          <a:p>
            <a:r>
              <a:rPr lang="en-US" dirty="0"/>
              <a:t>main proc ; Write the program main code at this level</a:t>
            </a:r>
          </a:p>
          <a:p>
            <a:r>
              <a:rPr lang="en-US" dirty="0"/>
              <a:t>main </a:t>
            </a:r>
            <a:r>
              <a:rPr lang="en-US" dirty="0" err="1"/>
              <a:t>endp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370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864BB-A29F-BA8C-BF90-74453FE50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BC1D-E0F2-3F89-49BE-11CE9B8AE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Defines the number of code and data segments a program can have.</a:t>
            </a:r>
          </a:p>
          <a:p>
            <a:r>
              <a:rPr lang="en-US" dirty="0"/>
              <a:t>Small: For 1 code and 1 data segment. Code and data are located in a single 64 KB segment. Well-suited for small programs that fit within the 64 KB limit.</a:t>
            </a:r>
          </a:p>
          <a:p>
            <a:r>
              <a:rPr lang="en-US" dirty="0"/>
              <a:t>Medium: for 1 data and more than 1 code segments. Code and data have their own separate 64 KB segments. Suitable for larger programs, providing more flexibility.</a:t>
            </a:r>
          </a:p>
          <a:p>
            <a:r>
              <a:rPr lang="en-US" dirty="0"/>
              <a:t>Large: for more than 1 code and data segments. Supports multiple code and data segments, each up to 64 KB in size. Useful for even larger programs, but with increased complexity.</a:t>
            </a:r>
          </a:p>
        </p:txBody>
      </p:sp>
    </p:spTree>
    <p:extLst>
      <p:ext uri="{BB962C8B-B14F-4D97-AF65-F5344CB8AC3E}">
        <p14:creationId xmlns:p14="http://schemas.microsoft.com/office/powerpoint/2010/main" val="2287266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B004-B766-5839-7B14-D9F39B84C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C45D6-B9C9-6EC1-A29C-1016DD4C0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8086 assembly language programming, the .stack directive is used to define the size of the stack segment. The stack segment is a region of memory reserved for the stack, which is a data structure used for storing temporary data such as local variables and return addresses.</a:t>
            </a:r>
          </a:p>
          <a:p>
            <a:r>
              <a:rPr lang="en-US" dirty="0"/>
              <a:t>The syntax for specifying the stack size is:</a:t>
            </a:r>
          </a:p>
          <a:p>
            <a:r>
              <a:rPr lang="en-US" dirty="0"/>
              <a:t>.stack </a:t>
            </a:r>
            <a:r>
              <a:rPr lang="en-US" dirty="0" err="1"/>
              <a:t>size_in_bytes</a:t>
            </a:r>
            <a:endParaRPr lang="en-US" dirty="0"/>
          </a:p>
          <a:p>
            <a:r>
              <a:rPr lang="en-US" dirty="0"/>
              <a:t>The stack size should be chosen based on the needs of your program.</a:t>
            </a:r>
          </a:p>
        </p:txBody>
      </p:sp>
    </p:spTree>
    <p:extLst>
      <p:ext uri="{BB962C8B-B14F-4D97-AF65-F5344CB8AC3E}">
        <p14:creationId xmlns:p14="http://schemas.microsoft.com/office/powerpoint/2010/main" val="3340847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B643F-3BFC-0ACB-1902-71D92D90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&amp;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90212-5632-E240-75D1-7C1A07101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8086 assembly language programming, the .code directive is used to specify the beginning of the code segment. The code segment is where the actual executable instructions of your program reside.</a:t>
            </a:r>
          </a:p>
          <a:p>
            <a:r>
              <a:rPr lang="en-US" dirty="0"/>
              <a:t>In 8086 assembly language programming, the .data directive is used to define the data segment. The data segment is a section of memory where you allocate and initialize variables that your program will use.</a:t>
            </a:r>
          </a:p>
          <a:p>
            <a:r>
              <a:rPr lang="en-US" dirty="0"/>
              <a:t>Examples: </a:t>
            </a:r>
          </a:p>
          <a:p>
            <a:r>
              <a:rPr lang="en-US" dirty="0"/>
              <a:t>message </a:t>
            </a:r>
            <a:r>
              <a:rPr lang="en-US" dirty="0" err="1"/>
              <a:t>db</a:t>
            </a:r>
            <a:r>
              <a:rPr lang="en-US" dirty="0"/>
              <a:t> 'Hello, Assembly!', '$'</a:t>
            </a:r>
          </a:p>
          <a:p>
            <a:r>
              <a:rPr lang="en-US" dirty="0"/>
              <a:t>count </a:t>
            </a:r>
            <a:r>
              <a:rPr lang="en-US" dirty="0" err="1"/>
              <a:t>dw</a:t>
            </a:r>
            <a:r>
              <a:rPr lang="en-US" dirty="0"/>
              <a:t> 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725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Instruction Elements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876300" y="1638300"/>
            <a:ext cx="10628312" cy="4272922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Each instruction must have elements that contain the information required by the CPU for execution.</a:t>
            </a:r>
          </a:p>
          <a:p>
            <a:pPr algn="just"/>
            <a:r>
              <a:rPr lang="en-US" sz="2400" dirty="0"/>
              <a:t>These elements can be:  </a:t>
            </a:r>
          </a:p>
          <a:p>
            <a:pPr lvl="1" algn="just"/>
            <a:r>
              <a:rPr lang="en-US" sz="2100" b="1" dirty="0"/>
              <a:t>Operation code</a:t>
            </a:r>
            <a:r>
              <a:rPr lang="en-US" sz="2100" dirty="0"/>
              <a:t>: Specifies the operation to be performed (e.g.. ADD, I/O). The operation is specified by a binary code, known as the operation code, or </a:t>
            </a:r>
            <a:r>
              <a:rPr lang="en-US" sz="2100" dirty="0" err="1"/>
              <a:t>opcode</a:t>
            </a:r>
            <a:r>
              <a:rPr lang="en-US" sz="2100" dirty="0"/>
              <a:t>. </a:t>
            </a:r>
          </a:p>
          <a:p>
            <a:pPr lvl="1" algn="just"/>
            <a:r>
              <a:rPr lang="en-US" sz="2100" b="1" dirty="0"/>
              <a:t>Source operand reference</a:t>
            </a:r>
            <a:r>
              <a:rPr lang="en-US" sz="2100" dirty="0"/>
              <a:t>: The operation may involve one or more source operands, that is, operands that are inputs for the operation. </a:t>
            </a:r>
          </a:p>
          <a:p>
            <a:pPr lvl="1" algn="just"/>
            <a:r>
              <a:rPr lang="en-US" sz="2100" b="1" dirty="0"/>
              <a:t>Result operand reference</a:t>
            </a:r>
            <a:r>
              <a:rPr lang="en-US" sz="2100" dirty="0"/>
              <a:t>: The operation may produce a result.  Also called destination operand.</a:t>
            </a:r>
          </a:p>
          <a:p>
            <a:pPr lvl="1" algn="just"/>
            <a:r>
              <a:rPr lang="en-US" sz="2100" b="1" dirty="0"/>
              <a:t>Next instruction reference</a:t>
            </a:r>
            <a:r>
              <a:rPr lang="en-US" sz="2100" dirty="0"/>
              <a:t>: This tells the CPU where to fetch the next instruction.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Representation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229600" cy="29718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/>
              <a:t>Within the computer, each instruction is represented by a sequence of bits. </a:t>
            </a:r>
          </a:p>
          <a:p>
            <a:pPr algn="just"/>
            <a:r>
              <a:rPr lang="en-US" sz="2400" dirty="0"/>
              <a:t>16 bits instruction</a:t>
            </a:r>
          </a:p>
          <a:p>
            <a:pPr lvl="1" algn="just"/>
            <a:r>
              <a:rPr lang="en-US" sz="2000" dirty="0"/>
              <a:t>4 bit </a:t>
            </a:r>
            <a:r>
              <a:rPr lang="en-US" sz="2000" dirty="0" err="1"/>
              <a:t>opcode</a:t>
            </a:r>
            <a:r>
              <a:rPr lang="en-US" sz="2000" dirty="0"/>
              <a:t>, 6 bit operand 1, 6 bit operand 2</a:t>
            </a:r>
          </a:p>
          <a:p>
            <a:pPr lvl="1" algn="just"/>
            <a:r>
              <a:rPr lang="en-US" sz="2000" dirty="0"/>
              <a:t>4 bit </a:t>
            </a:r>
            <a:r>
              <a:rPr lang="en-US" sz="2000" dirty="0" err="1"/>
              <a:t>opcode</a:t>
            </a:r>
            <a:r>
              <a:rPr lang="en-US" sz="2000" dirty="0"/>
              <a:t>, 12 bit operand</a:t>
            </a:r>
          </a:p>
          <a:p>
            <a:pPr algn="just"/>
            <a:r>
              <a:rPr lang="en-US" sz="2400" dirty="0"/>
              <a:t>32 bits instruction</a:t>
            </a:r>
          </a:p>
          <a:p>
            <a:pPr algn="just"/>
            <a:r>
              <a:rPr lang="en-US" sz="2400" dirty="0"/>
              <a:t>64 bits instruction</a:t>
            </a:r>
          </a:p>
        </p:txBody>
      </p:sp>
      <p:pic>
        <p:nvPicPr>
          <p:cNvPr id="1669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4114800"/>
            <a:ext cx="59436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752600" y="5486400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Figure: A Simple Instruction Format</a:t>
            </a:r>
          </a:p>
        </p:txBody>
      </p:sp>
      <p:pic>
        <p:nvPicPr>
          <p:cNvPr id="1669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5410200"/>
            <a:ext cx="40767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229600" cy="236220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Binary representations of machine instructions is difficult to remember. </a:t>
            </a:r>
          </a:p>
          <a:p>
            <a:pPr algn="just"/>
            <a:r>
              <a:rPr lang="en-US" sz="2400" dirty="0"/>
              <a:t>Use a symbolic representation of machine instructions. </a:t>
            </a:r>
          </a:p>
          <a:p>
            <a:pPr algn="just"/>
            <a:r>
              <a:rPr lang="en-US" sz="2400" dirty="0" err="1"/>
              <a:t>Opcodes</a:t>
            </a:r>
            <a:r>
              <a:rPr lang="en-US" sz="2400" dirty="0"/>
              <a:t> are represented by abbreviations, called mnemonics, that indicate the operation. Common examples include:</a:t>
            </a:r>
          </a:p>
        </p:txBody>
      </p:sp>
      <p:pic>
        <p:nvPicPr>
          <p:cNvPr id="167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38875" y="4095750"/>
            <a:ext cx="30480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48D7F-D142-9E57-A790-67BFB4EF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Rules To Follow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E35FA-90E6-F714-5BAA-C709C1B16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source and destination operands should be the same size.</a:t>
            </a:r>
          </a:p>
          <a:p>
            <a:r>
              <a:rPr lang="en-US" dirty="0"/>
              <a:t>Both operands cannot be segment registers</a:t>
            </a:r>
          </a:p>
          <a:p>
            <a:r>
              <a:rPr lang="en-US" dirty="0"/>
              <a:t>The destination operand cannot be a CS or an IP register</a:t>
            </a:r>
          </a:p>
          <a:p>
            <a:r>
              <a:rPr lang="en-US" dirty="0"/>
              <a:t>If the destination operand is a segment register, the source operand cannot be an immediate value.</a:t>
            </a:r>
          </a:p>
        </p:txBody>
      </p:sp>
    </p:spTree>
    <p:extLst>
      <p:ext uri="{BB962C8B-B14F-4D97-AF65-F5344CB8AC3E}">
        <p14:creationId xmlns:p14="http://schemas.microsoft.com/office/powerpoint/2010/main" val="663337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EDDEC-A865-AAB1-3C84-D675D0B88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A0919-208F-A0A8-BB59-642D55234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407B33-1ABE-1A18-51CA-0C6E3372A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38" y="0"/>
            <a:ext cx="115179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63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AB798-A5A5-6E95-E77A-A55112DCA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2AEA0-3A4D-D27B-DCE4-6E802FFA3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02C4B3-4788-3916-9458-527962F31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23" y="0"/>
            <a:ext cx="117113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914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970A-778B-9785-FEB6-717F14A90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339E2-69CC-99F3-AE63-5189A2631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1999C0-7AD3-D6C7-7232-13B000749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97" y="0"/>
            <a:ext cx="114526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170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E5CC7-05BA-25FF-12DA-686CBEFA9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4AC34-B197-A2A1-7847-6038020D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0CBEC-71D8-FDDA-49BA-6B1E39ECF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88" y="0"/>
            <a:ext cx="115110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60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48976-704F-D924-9767-7F4CCF027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E5F4B-FCC2-CA32-F38B-B70EAF917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8E3852-2A52-E2C5-8111-DCB52ACE1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4"/>
            <a:ext cx="12192000" cy="685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996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FC76A-FA44-7E59-FDCC-DA9553E72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BED60-EFEB-4F1E-100D-61B74ABC6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D8DC26-2A21-EFD2-AD2F-FD1CF0811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32" y="-19050"/>
            <a:ext cx="117719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70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EA5ED-2732-6374-49B5-AE54213C8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Address to Logical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F95E8-4169-1C04-B081-3747430D4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Size of Physical Address is 20bits. While 8086 has max size16 bits.</a:t>
            </a:r>
          </a:p>
          <a:p>
            <a:r>
              <a:rPr lang="en-US" dirty="0"/>
              <a:t>Physical address will be calculated by Segment address and Offset</a:t>
            </a:r>
          </a:p>
          <a:p>
            <a:r>
              <a:rPr lang="en-US" dirty="0"/>
              <a:t>Both Segment address and Offset size is 16 bits.</a:t>
            </a:r>
          </a:p>
          <a:p>
            <a:r>
              <a:rPr lang="en-US" dirty="0"/>
              <a:t>So Physical address is calculated by Segment * 10h + </a:t>
            </a:r>
            <a:r>
              <a:rPr lang="en-US"/>
              <a:t>offset address</a:t>
            </a:r>
          </a:p>
        </p:txBody>
      </p:sp>
    </p:spTree>
    <p:extLst>
      <p:ext uri="{BB962C8B-B14F-4D97-AF65-F5344CB8AC3E}">
        <p14:creationId xmlns:p14="http://schemas.microsoft.com/office/powerpoint/2010/main" val="41347845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131</TotalTime>
  <Words>663</Words>
  <Application>Microsoft Office PowerPoint</Application>
  <PresentationFormat>Widescreen</PresentationFormat>
  <Paragraphs>59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Century Gothic</vt:lpstr>
      <vt:lpstr>Wingdings 3</vt:lpstr>
      <vt:lpstr>Wisp</vt:lpstr>
      <vt:lpstr>Computer Organization &amp; Assembly Language</vt:lpstr>
      <vt:lpstr>Programming Model x8086</vt:lpstr>
      <vt:lpstr>Model</vt:lpstr>
      <vt:lpstr>Stack</vt:lpstr>
      <vt:lpstr>Code &amp; Data</vt:lpstr>
      <vt:lpstr>Machine Instruction Elements</vt:lpstr>
      <vt:lpstr>Instruction Representation</vt:lpstr>
      <vt:lpstr>Contd..</vt:lpstr>
      <vt:lpstr>Some Rules To Follow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Physical Address to Logical Address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Ihtisham ul haq</dc:creator>
  <cp:lastModifiedBy>Ihtisham ul haq</cp:lastModifiedBy>
  <cp:revision>4</cp:revision>
  <dcterms:created xsi:type="dcterms:W3CDTF">2023-10-17T17:30:28Z</dcterms:created>
  <dcterms:modified xsi:type="dcterms:W3CDTF">2023-10-29T17:54:27Z</dcterms:modified>
</cp:coreProperties>
</file>