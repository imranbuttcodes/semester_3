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342" r:id="rId3"/>
    <p:sldId id="346" r:id="rId4"/>
    <p:sldId id="347" r:id="rId5"/>
    <p:sldId id="345" r:id="rId6"/>
    <p:sldId id="350" r:id="rId7"/>
    <p:sldId id="351" r:id="rId8"/>
    <p:sldId id="352" r:id="rId9"/>
    <p:sldId id="353" r:id="rId10"/>
    <p:sldId id="354" r:id="rId11"/>
    <p:sldId id="357" r:id="rId12"/>
    <p:sldId id="3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4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34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E59307-FD9A-4506-868F-38EAB1970A9E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DD0BA-05A3-4E41-BF9C-58D718839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89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Register details covered in later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AB212B-14B6-45DE-B243-80E89BC63FF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372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40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307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77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936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241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361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711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423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15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79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111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0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4688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33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3624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212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642CD-AAAD-4E54-BAD2-9AEC05630F5D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96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D54D1-B773-6DC6-6A36-C4903D0768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Computer Organization &amp; Assembly Language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0092D9-7E8A-0F7D-03F8-2132B9F1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Lecture 2</a:t>
            </a:r>
          </a:p>
        </p:txBody>
      </p:sp>
    </p:spTree>
    <p:extLst>
      <p:ext uri="{BB962C8B-B14F-4D97-AF65-F5344CB8AC3E}">
        <p14:creationId xmlns:p14="http://schemas.microsoft.com/office/powerpoint/2010/main" val="3720242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sz="2400" dirty="0"/>
              <a:t>Brain of Computer; controls all operations</a:t>
            </a:r>
          </a:p>
          <a:p>
            <a:pPr lvl="1" algn="just"/>
            <a:r>
              <a:rPr lang="en-US" sz="2100" dirty="0"/>
              <a:t>Uses Memory Circuits to store information</a:t>
            </a:r>
          </a:p>
          <a:p>
            <a:pPr lvl="1" algn="just"/>
            <a:r>
              <a:rPr lang="en-US" sz="2100" dirty="0"/>
              <a:t>Uses I/O Circuits to communicate with I/O Devices</a:t>
            </a:r>
          </a:p>
          <a:p>
            <a:pPr algn="just"/>
            <a:r>
              <a:rPr lang="en-US" sz="2400" dirty="0"/>
              <a:t>Executes programs stored in memory</a:t>
            </a:r>
          </a:p>
          <a:p>
            <a:pPr lvl="1" algn="just"/>
            <a:r>
              <a:rPr lang="en-US" sz="2100" dirty="0"/>
              <a:t>System programs</a:t>
            </a:r>
          </a:p>
          <a:p>
            <a:pPr lvl="1" algn="just"/>
            <a:r>
              <a:rPr lang="en-US" sz="2100" dirty="0"/>
              <a:t>Application programs</a:t>
            </a:r>
          </a:p>
          <a:p>
            <a:pPr algn="just"/>
            <a:r>
              <a:rPr lang="en-US" sz="2400" b="1" dirty="0"/>
              <a:t>Instruction Set: </a:t>
            </a:r>
            <a:r>
              <a:rPr lang="en-US" sz="2400" dirty="0"/>
              <a:t>Instructions performed by CPU</a:t>
            </a:r>
            <a:endParaRPr lang="en-US" sz="2400" b="1" dirty="0"/>
          </a:p>
          <a:p>
            <a:pPr algn="just"/>
            <a:r>
              <a:rPr lang="en-US" sz="2400" dirty="0"/>
              <a:t>Two main components:</a:t>
            </a:r>
          </a:p>
          <a:p>
            <a:pPr lvl="1" algn="just"/>
            <a:r>
              <a:rPr lang="en-US" sz="2400" dirty="0"/>
              <a:t>Execution Unit (EU)</a:t>
            </a:r>
          </a:p>
          <a:p>
            <a:pPr lvl="1" algn="just"/>
            <a:r>
              <a:rPr lang="en-US" sz="2400" dirty="0"/>
              <a:t>Bus Interface Unit (BIU)</a:t>
            </a:r>
          </a:p>
          <a:p>
            <a:pPr algn="just"/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Unit (EU)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sz="2400" dirty="0"/>
              <a:t>Purpose: Execute instructions</a:t>
            </a:r>
          </a:p>
          <a:p>
            <a:pPr algn="just"/>
            <a:r>
              <a:rPr lang="en-US" sz="2400" dirty="0"/>
              <a:t>Contains ALU (Arithmetic &amp; Logic Unit)</a:t>
            </a:r>
          </a:p>
          <a:p>
            <a:pPr lvl="1" algn="just"/>
            <a:r>
              <a:rPr lang="en-US" dirty="0"/>
              <a:t>To perform arithmetic (+, -, x,/) and logic (AND, OR, NOT) operations.</a:t>
            </a:r>
          </a:p>
          <a:p>
            <a:pPr algn="just"/>
            <a:r>
              <a:rPr lang="en-US" sz="2400" dirty="0"/>
              <a:t>The data for the operations are stored in circuits called </a:t>
            </a:r>
            <a:r>
              <a:rPr lang="en-US" sz="2400" b="1" dirty="0"/>
              <a:t>Registers</a:t>
            </a:r>
            <a:r>
              <a:rPr lang="en-US" sz="2400" dirty="0"/>
              <a:t>.</a:t>
            </a:r>
          </a:p>
          <a:p>
            <a:pPr algn="just"/>
            <a:r>
              <a:rPr lang="en-US" sz="2400" dirty="0"/>
              <a:t>A register is like a memory location except that it is referred by a name not a number (address).</a:t>
            </a:r>
          </a:p>
          <a:p>
            <a:pPr algn="just"/>
            <a:r>
              <a:rPr lang="en-US" sz="2400" dirty="0"/>
              <a:t>EU uses registers for:</a:t>
            </a:r>
          </a:p>
          <a:p>
            <a:pPr lvl="1" algn="just"/>
            <a:r>
              <a:rPr lang="en-US" sz="2100" dirty="0"/>
              <a:t>Storing data.</a:t>
            </a:r>
          </a:p>
          <a:p>
            <a:pPr lvl="1" algn="just"/>
            <a:r>
              <a:rPr lang="en-US" sz="2100" dirty="0"/>
              <a:t>Holding operands for ALU</a:t>
            </a:r>
          </a:p>
          <a:p>
            <a:pPr lvl="1" algn="just"/>
            <a:r>
              <a:rPr lang="en-US" sz="2100" dirty="0"/>
              <a:t>To reflect result of a computation – FLAG register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 Interface Unit (BIU)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Facilitates communication between the EU and the memory or I/O circuits.</a:t>
            </a:r>
          </a:p>
          <a:p>
            <a:pPr algn="just"/>
            <a:r>
              <a:rPr lang="en-US" sz="2400" dirty="0"/>
              <a:t>Responsible for transmitting address, data and control signals on the buses.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77826" name="Picture 2" descr="http://2.bp.blogspot.com/-gt-jg8d2EzE/Tgd4weJWxsI/AAAAAAAAAKM/308fOZ6-gLA/s640/01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2700" y="220435"/>
            <a:ext cx="7086600" cy="609600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3810000" y="64008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Intel 8086 Microprocessor Organization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Registers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1981200" y="1219201"/>
            <a:ext cx="8382000" cy="4937125"/>
          </a:xfrm>
        </p:spPr>
        <p:txBody>
          <a:bodyPr>
            <a:normAutofit lnSpcReduction="10000"/>
          </a:bodyPr>
          <a:lstStyle/>
          <a:p>
            <a:pPr algn="just" eaLnBrk="1" hangingPunct="1"/>
            <a:r>
              <a:rPr lang="en-US" sz="2400" dirty="0">
                <a:cs typeface="Times New Roman" pitchFamily="18" charset="0"/>
              </a:rPr>
              <a:t>Registers are high-speed storage locations inside the microprocessor.</a:t>
            </a:r>
          </a:p>
          <a:p>
            <a:pPr algn="just" eaLnBrk="1" hangingPunct="1"/>
            <a:r>
              <a:rPr lang="en-US" sz="2400" dirty="0">
                <a:cs typeface="Times New Roman" pitchFamily="18" charset="0"/>
              </a:rPr>
              <a:t>Designed to be accessed at much higher speed than conventional memory.</a:t>
            </a:r>
          </a:p>
          <a:p>
            <a:pPr algn="just" eaLnBrk="1" hangingPunct="1"/>
            <a:r>
              <a:rPr lang="en-US" sz="2400" dirty="0">
                <a:cs typeface="Times New Roman" pitchFamily="18" charset="0"/>
              </a:rPr>
              <a:t>Registers are classified according to the functions they perform.</a:t>
            </a:r>
          </a:p>
          <a:p>
            <a:pPr algn="just" eaLnBrk="1" hangingPunct="1"/>
            <a:r>
              <a:rPr lang="en-US" sz="2400" dirty="0">
                <a:cs typeface="Times New Roman" pitchFamily="18" charset="0"/>
              </a:rPr>
              <a:t>General Types of Registers:</a:t>
            </a:r>
          </a:p>
          <a:p>
            <a:pPr lvl="1" algn="just" eaLnBrk="1" hangingPunct="1"/>
            <a:r>
              <a:rPr lang="en-US" sz="2000" b="1" dirty="0">
                <a:cs typeface="Times New Roman" pitchFamily="18" charset="0"/>
              </a:rPr>
              <a:t>Data Registers</a:t>
            </a:r>
            <a:r>
              <a:rPr lang="en-US" sz="2000" dirty="0">
                <a:cs typeface="Times New Roman" pitchFamily="18" charset="0"/>
              </a:rPr>
              <a:t>:  To hold data for an operation. </a:t>
            </a:r>
          </a:p>
          <a:p>
            <a:pPr lvl="1" algn="just" eaLnBrk="1" hangingPunct="1"/>
            <a:r>
              <a:rPr lang="en-US" sz="2000" b="1" dirty="0">
                <a:cs typeface="Times New Roman" pitchFamily="18" charset="0"/>
              </a:rPr>
              <a:t>Address Registers</a:t>
            </a:r>
            <a:r>
              <a:rPr lang="en-US" sz="2000" dirty="0">
                <a:cs typeface="Times New Roman" pitchFamily="18" charset="0"/>
              </a:rPr>
              <a:t>: To hold the address of an instruction or data.</a:t>
            </a:r>
          </a:p>
          <a:p>
            <a:pPr lvl="1" algn="just" eaLnBrk="1" hangingPunct="1"/>
            <a:r>
              <a:rPr lang="en-US" sz="2000" b="1" dirty="0">
                <a:cs typeface="Times New Roman" pitchFamily="18" charset="0"/>
              </a:rPr>
              <a:t>Status/Flag Register</a:t>
            </a:r>
            <a:r>
              <a:rPr lang="en-US" sz="2000" dirty="0">
                <a:cs typeface="Times New Roman" pitchFamily="18" charset="0"/>
              </a:rPr>
              <a:t>: keeps the current status of the processor or result of an arithmetic operation.</a:t>
            </a:r>
          </a:p>
          <a:p>
            <a:pPr algn="just" eaLnBrk="1" hangingPunct="1"/>
            <a:endParaRPr lang="en-US" sz="2000" dirty="0">
              <a:cs typeface="Times New Roman" pitchFamily="18" charset="0"/>
            </a:endParaRPr>
          </a:p>
          <a:p>
            <a:pPr lvl="2" eaLnBrk="1" hangingPunct="1">
              <a:buFontTx/>
              <a:buNone/>
            </a:pPr>
            <a:endParaRPr lang="en-US" sz="1600" dirty="0">
              <a:cs typeface="Times New Roman" pitchFamily="18" charset="0"/>
            </a:endParaRPr>
          </a:p>
          <a:p>
            <a:pPr eaLnBrk="1" hangingPunct="1"/>
            <a:endParaRPr lang="en-US" dirty="0"/>
          </a:p>
        </p:txBody>
      </p:sp>
      <p:sp>
        <p:nvSpPr>
          <p:cNvPr id="307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D4E6AA-047B-44C6-99EA-8532B279CCE9}" type="slidenum">
              <a:rPr lang="en-US" smtClean="0">
                <a:latin typeface="Arial" pitchFamily="34" charset="0"/>
              </a:rPr>
              <a:pPr>
                <a:defRPr/>
              </a:pPr>
              <a:t>6</a:t>
            </a:fld>
            <a:endParaRPr lang="en-US"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8312E6-8E68-4A9D-9CB1-42445363EAD2}" type="slidenum">
              <a:rPr lang="en-US" altLang="en-US" smtClean="0">
                <a:latin typeface="Arial" pitchFamily="34" charset="0"/>
              </a:rPr>
              <a:pPr>
                <a:defRPr/>
              </a:pPr>
              <a:t>7</a:t>
            </a:fld>
            <a:endParaRPr lang="en-US" altLang="en-US">
              <a:latin typeface="Arial" pitchFamily="34" charset="0"/>
            </a:endParaRPr>
          </a:p>
        </p:txBody>
      </p:sp>
      <p:sp>
        <p:nvSpPr>
          <p:cNvPr id="21507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0" y="228600"/>
            <a:ext cx="7620000" cy="457200"/>
          </a:xfrm>
          <a:noFill/>
        </p:spPr>
        <p:txBody>
          <a:bodyPr/>
          <a:lstStyle/>
          <a:p>
            <a:pPr eaLnBrk="1" hangingPunct="1"/>
            <a:r>
              <a:rPr lang="en-US" sz="2400" b="1" dirty="0"/>
              <a:t>8086 Internal registers 16 bits (2 bytes each)</a:t>
            </a:r>
          </a:p>
        </p:txBody>
      </p:sp>
      <p:pic>
        <p:nvPicPr>
          <p:cNvPr id="21508" name="Picture 5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609600"/>
            <a:ext cx="441325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3495" name="Rectangle 7"/>
          <p:cNvSpPr>
            <a:spLocks noChangeArrowheads="1"/>
          </p:cNvSpPr>
          <p:nvPr/>
        </p:nvSpPr>
        <p:spPr bwMode="auto">
          <a:xfrm>
            <a:off x="6477000" y="838200"/>
            <a:ext cx="3962400" cy="1371600"/>
          </a:xfrm>
          <a:prstGeom prst="rect">
            <a:avLst/>
          </a:prstGeom>
          <a:solidFill>
            <a:srgbClr val="B9D1D0"/>
          </a:solidFill>
          <a:ln w="12699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dirty="0">
              <a:cs typeface="Arial" pitchFamily="34" charset="0"/>
            </a:endParaRPr>
          </a:p>
        </p:txBody>
      </p:sp>
      <p:sp>
        <p:nvSpPr>
          <p:cNvPr id="63496" name="Rectangle 8"/>
          <p:cNvSpPr>
            <a:spLocks noChangeArrowheads="1"/>
          </p:cNvSpPr>
          <p:nvPr/>
        </p:nvSpPr>
        <p:spPr bwMode="auto">
          <a:xfrm>
            <a:off x="6575425" y="966789"/>
            <a:ext cx="3765550" cy="1266825"/>
          </a:xfrm>
          <a:prstGeom prst="rect">
            <a:avLst/>
          </a:prstGeom>
          <a:solidFill>
            <a:srgbClr val="B9D1D0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sz="2400" dirty="0">
                <a:latin typeface="Times New Roman" pitchFamily="18" charset="0"/>
              </a:rPr>
              <a:t>AX, BX, CX and DX are two</a:t>
            </a:r>
          </a:p>
          <a:p>
            <a:pPr algn="ctr" eaLnBrk="0" hangingPunct="0"/>
            <a:r>
              <a:rPr lang="en-US" sz="2400" dirty="0">
                <a:latin typeface="Times New Roman" pitchFamily="18" charset="0"/>
              </a:rPr>
              <a:t>bytes wide and each byte can </a:t>
            </a:r>
          </a:p>
          <a:p>
            <a:pPr algn="ctr" eaLnBrk="0" hangingPunct="0"/>
            <a:r>
              <a:rPr lang="en-US" sz="2400" dirty="0">
                <a:latin typeface="Times New Roman" pitchFamily="18" charset="0"/>
              </a:rPr>
              <a:t>be accessed separately</a:t>
            </a:r>
          </a:p>
        </p:txBody>
      </p:sp>
      <p:sp>
        <p:nvSpPr>
          <p:cNvPr id="63497" name="Rectangle 9"/>
          <p:cNvSpPr>
            <a:spLocks noChangeArrowheads="1"/>
          </p:cNvSpPr>
          <p:nvPr/>
        </p:nvSpPr>
        <p:spPr bwMode="auto">
          <a:xfrm>
            <a:off x="6477000" y="2362200"/>
            <a:ext cx="3962400" cy="1371600"/>
          </a:xfrm>
          <a:prstGeom prst="rect">
            <a:avLst/>
          </a:prstGeom>
          <a:solidFill>
            <a:srgbClr val="B9D1D0"/>
          </a:solidFill>
          <a:ln w="12699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dirty="0">
              <a:cs typeface="Arial" pitchFamily="34" charset="0"/>
            </a:endParaRPr>
          </a:p>
        </p:txBody>
      </p:sp>
      <p:sp>
        <p:nvSpPr>
          <p:cNvPr id="63498" name="Rectangle 10"/>
          <p:cNvSpPr>
            <a:spLocks noChangeArrowheads="1"/>
          </p:cNvSpPr>
          <p:nvPr/>
        </p:nvSpPr>
        <p:spPr bwMode="auto">
          <a:xfrm>
            <a:off x="6575425" y="2490789"/>
            <a:ext cx="3765550" cy="1266825"/>
          </a:xfrm>
          <a:prstGeom prst="rect">
            <a:avLst/>
          </a:prstGeom>
          <a:solidFill>
            <a:srgbClr val="B9D1D0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sz="2400" dirty="0">
                <a:latin typeface="Times New Roman" pitchFamily="18" charset="0"/>
              </a:rPr>
              <a:t>These registers are used as </a:t>
            </a:r>
          </a:p>
          <a:p>
            <a:pPr algn="ctr" eaLnBrk="0" hangingPunct="0"/>
            <a:r>
              <a:rPr lang="en-US" sz="2400" dirty="0">
                <a:latin typeface="Times New Roman" pitchFamily="18" charset="0"/>
              </a:rPr>
              <a:t>memory </a:t>
            </a:r>
            <a:r>
              <a:rPr lang="en-US" sz="2400" i="1" u="sng" dirty="0">
                <a:solidFill>
                  <a:srgbClr val="FF0000"/>
                </a:solidFill>
                <a:latin typeface="Times New Roman" pitchFamily="18" charset="0"/>
              </a:rPr>
              <a:t>pointers</a:t>
            </a:r>
            <a:r>
              <a:rPr lang="en-US" sz="2400" dirty="0">
                <a:latin typeface="Times New Roman" pitchFamily="18" charset="0"/>
              </a:rPr>
              <a:t>.</a:t>
            </a:r>
          </a:p>
        </p:txBody>
      </p:sp>
      <p:sp>
        <p:nvSpPr>
          <p:cNvPr id="63501" name="Rectangle 13"/>
          <p:cNvSpPr>
            <a:spLocks noChangeArrowheads="1"/>
          </p:cNvSpPr>
          <p:nvPr/>
        </p:nvSpPr>
        <p:spPr bwMode="auto">
          <a:xfrm>
            <a:off x="6477000" y="4876800"/>
            <a:ext cx="3962400" cy="1371600"/>
          </a:xfrm>
          <a:prstGeom prst="rect">
            <a:avLst/>
          </a:prstGeom>
          <a:solidFill>
            <a:srgbClr val="B9D1D0"/>
          </a:solidFill>
          <a:ln w="12699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dirty="0">
              <a:cs typeface="Arial" pitchFamily="34" charset="0"/>
            </a:endParaRPr>
          </a:p>
        </p:txBody>
      </p:sp>
      <p:sp>
        <p:nvSpPr>
          <p:cNvPr id="63502" name="Rectangle 14"/>
          <p:cNvSpPr>
            <a:spLocks noChangeArrowheads="1"/>
          </p:cNvSpPr>
          <p:nvPr/>
        </p:nvSpPr>
        <p:spPr bwMode="auto">
          <a:xfrm>
            <a:off x="6575425" y="5105400"/>
            <a:ext cx="3765550" cy="1143000"/>
          </a:xfrm>
          <a:prstGeom prst="rect">
            <a:avLst/>
          </a:prstGeom>
          <a:solidFill>
            <a:srgbClr val="B9D1D0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sz="2400">
                <a:latin typeface="Times New Roman" pitchFamily="18" charset="0"/>
              </a:rPr>
              <a:t>Segment registers are used</a:t>
            </a:r>
          </a:p>
          <a:p>
            <a:pPr algn="ctr" eaLnBrk="0" hangingPunct="0"/>
            <a:r>
              <a:rPr lang="en-US" sz="2400">
                <a:latin typeface="Times New Roman" pitchFamily="18" charset="0"/>
              </a:rPr>
              <a:t>as base address for a segment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6400800" y="4038600"/>
            <a:ext cx="4038600" cy="609600"/>
            <a:chOff x="3072" y="2496"/>
            <a:chExt cx="2544" cy="384"/>
          </a:xfrm>
        </p:grpSpPr>
        <p:sp>
          <p:nvSpPr>
            <p:cNvPr id="63499" name="Rectangle 11"/>
            <p:cNvSpPr>
              <a:spLocks noChangeArrowheads="1"/>
            </p:cNvSpPr>
            <p:nvPr/>
          </p:nvSpPr>
          <p:spPr bwMode="auto">
            <a:xfrm>
              <a:off x="3120" y="2496"/>
              <a:ext cx="2496" cy="384"/>
            </a:xfrm>
            <a:prstGeom prst="rect">
              <a:avLst/>
            </a:prstGeom>
            <a:solidFill>
              <a:srgbClr val="FFFF99"/>
            </a:solidFill>
            <a:ln w="12699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pitchFamily="34" charset="0"/>
              </a:endParaRPr>
            </a:p>
          </p:txBody>
        </p:sp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3072" y="2544"/>
              <a:ext cx="2496" cy="318"/>
              <a:chOff x="3072" y="2544"/>
              <a:chExt cx="2496" cy="318"/>
            </a:xfrm>
          </p:grpSpPr>
          <p:sp>
            <p:nvSpPr>
              <p:cNvPr id="21518" name="Rectangle 12"/>
              <p:cNvSpPr>
                <a:spLocks noChangeArrowheads="1"/>
              </p:cNvSpPr>
              <p:nvPr/>
            </p:nvSpPr>
            <p:spPr bwMode="auto">
              <a:xfrm>
                <a:off x="3182" y="2544"/>
                <a:ext cx="2372" cy="3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 eaLnBrk="0" hangingPunct="0"/>
                <a:endParaRPr lang="en-US"/>
              </a:p>
            </p:txBody>
          </p:sp>
          <p:sp>
            <p:nvSpPr>
              <p:cNvPr id="21519" name="Text Box 15"/>
              <p:cNvSpPr txBox="1">
                <a:spLocks noChangeArrowheads="1"/>
              </p:cNvSpPr>
              <p:nvPr/>
            </p:nvSpPr>
            <p:spPr bwMode="auto">
              <a:xfrm>
                <a:off x="3072" y="2544"/>
                <a:ext cx="249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400" b="1">
                    <a:latin typeface="Times New Roman" pitchFamily="18" charset="0"/>
                  </a:rPr>
                  <a:t>6 status; 3 control ; 7 unused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3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3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3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3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3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3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5" grpId="0" animBg="1"/>
      <p:bldP spid="63496" grpId="0" animBg="1" autoUpdateAnimBg="0"/>
      <p:bldP spid="63497" grpId="0" animBg="1"/>
      <p:bldP spid="63498" grpId="0" animBg="1" autoUpdateAnimBg="0"/>
      <p:bldP spid="63501" grpId="0" animBg="1"/>
      <p:bldP spid="63502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152400"/>
            <a:ext cx="8001000" cy="838200"/>
          </a:xfrm>
          <a:noFill/>
        </p:spPr>
        <p:txBody>
          <a:bodyPr/>
          <a:lstStyle/>
          <a:p>
            <a:pPr eaLnBrk="1" hangingPunct="1"/>
            <a:r>
              <a:rPr lang="en-US" dirty="0"/>
              <a:t>General Purpose/Data Registers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371600"/>
            <a:ext cx="8001000" cy="5029200"/>
          </a:xfrm>
          <a:noFill/>
        </p:spPr>
        <p:txBody>
          <a:bodyPr/>
          <a:lstStyle/>
          <a:p>
            <a:pPr algn="just">
              <a:spcAft>
                <a:spcPts val="400"/>
              </a:spcAft>
            </a:pPr>
            <a:r>
              <a:rPr lang="en-US" sz="2000" dirty="0"/>
              <a:t>Following four registers are available to the programmer for general data manipulation:</a:t>
            </a:r>
          </a:p>
          <a:p>
            <a:pPr algn="just">
              <a:spcAft>
                <a:spcPts val="400"/>
              </a:spcAft>
            </a:pPr>
            <a:r>
              <a:rPr lang="en-US" sz="2000" b="1" dirty="0"/>
              <a:t>AX (Accumulator):</a:t>
            </a:r>
            <a:r>
              <a:rPr lang="en-US" sz="2000" dirty="0"/>
              <a:t> Used in arithmetic, logic and data transfer instructions. Also required in multiplication, division and input/output operations. </a:t>
            </a:r>
          </a:p>
          <a:p>
            <a:pPr algn="just">
              <a:spcAft>
                <a:spcPts val="400"/>
              </a:spcAft>
            </a:pPr>
            <a:r>
              <a:rPr lang="en-US" sz="2000" b="1" dirty="0"/>
              <a:t>BX (Base): </a:t>
            </a:r>
            <a:r>
              <a:rPr lang="en-US" sz="2000" dirty="0"/>
              <a:t>It can hold a memory address that points to a variable. </a:t>
            </a:r>
          </a:p>
          <a:p>
            <a:pPr algn="just">
              <a:spcAft>
                <a:spcPts val="400"/>
              </a:spcAft>
            </a:pPr>
            <a:r>
              <a:rPr lang="en-US" sz="2000" b="1" dirty="0"/>
              <a:t>CX (Counter): </a:t>
            </a:r>
            <a:r>
              <a:rPr lang="en-US" sz="2000" dirty="0"/>
              <a:t>Act as a counter for repeating or looping instructions. These instructions automatically repeat and decrement CX and quit when equals to 0.</a:t>
            </a:r>
          </a:p>
          <a:p>
            <a:pPr algn="just">
              <a:spcAft>
                <a:spcPts val="400"/>
              </a:spcAft>
            </a:pPr>
            <a:r>
              <a:rPr lang="en-US" sz="2000" b="1" dirty="0"/>
              <a:t>DX (Data): </a:t>
            </a:r>
            <a:r>
              <a:rPr lang="en-US" sz="2000" dirty="0"/>
              <a:t>It has a special role in multiply and divide operations. Also used in input/output operations. 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4E77E9-38EE-44C6-A195-AD254EE5C6A5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304800"/>
            <a:ext cx="8001000" cy="685800"/>
          </a:xfrm>
          <a:noFill/>
        </p:spPr>
        <p:txBody>
          <a:bodyPr/>
          <a:lstStyle/>
          <a:p>
            <a:pPr eaLnBrk="1" hangingPunct="1"/>
            <a:r>
              <a:rPr lang="en-US" dirty="0"/>
              <a:t>Segment Registers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1295400"/>
            <a:ext cx="8001000" cy="5029200"/>
          </a:xfrm>
          <a:noFill/>
        </p:spPr>
        <p:txBody>
          <a:bodyPr/>
          <a:lstStyle/>
          <a:p>
            <a:pPr algn="just" eaLnBrk="1" hangingPunct="1"/>
            <a:r>
              <a:rPr lang="en-US" sz="2000" dirty="0"/>
              <a:t>Store addresses of instruction and data in memory.</a:t>
            </a:r>
          </a:p>
          <a:p>
            <a:pPr algn="just" eaLnBrk="1" hangingPunct="1"/>
            <a:r>
              <a:rPr lang="en-US" sz="2000" dirty="0"/>
              <a:t>These values are used by the processor to access memory locations.</a:t>
            </a:r>
          </a:p>
          <a:p>
            <a:pPr algn="just" eaLnBrk="1" hangingPunct="1"/>
            <a:r>
              <a:rPr lang="en-US" sz="2000" b="1" dirty="0"/>
              <a:t>CS (Code)</a:t>
            </a:r>
            <a:r>
              <a:rPr lang="en-US" sz="2000" dirty="0"/>
              <a:t>: Defines the starting address of the section of memory holding code.</a:t>
            </a:r>
          </a:p>
          <a:p>
            <a:pPr algn="just" eaLnBrk="1" hangingPunct="1"/>
            <a:r>
              <a:rPr lang="en-US" sz="2000" b="1" dirty="0"/>
              <a:t>DS (Data)</a:t>
            </a:r>
            <a:r>
              <a:rPr lang="en-US" sz="2000" dirty="0"/>
              <a:t>: Defines the section of memory that holds most of the data used by programs.</a:t>
            </a:r>
          </a:p>
          <a:p>
            <a:pPr algn="just" eaLnBrk="1" hangingPunct="1"/>
            <a:r>
              <a:rPr lang="en-US" sz="2000" b="1" dirty="0"/>
              <a:t>ES (Extra)</a:t>
            </a:r>
            <a:r>
              <a:rPr lang="en-US" sz="2000" dirty="0"/>
              <a:t>: This is an additional data segment that is used by some of the string instructions.</a:t>
            </a:r>
          </a:p>
          <a:p>
            <a:pPr algn="just" eaLnBrk="1" hangingPunct="1"/>
            <a:r>
              <a:rPr lang="en-US" sz="2000" b="1" dirty="0"/>
              <a:t>SS (Stack</a:t>
            </a:r>
            <a:r>
              <a:rPr lang="en-US" sz="2000" dirty="0"/>
              <a:t>): It defines the area of the memory used for stack</a:t>
            </a:r>
          </a:p>
          <a:p>
            <a:pPr algn="just" eaLnBrk="1" hangingPunct="1">
              <a:buFontTx/>
              <a:buNone/>
            </a:pPr>
            <a:endParaRPr lang="en-US" sz="2000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B56F99-E1BB-4119-95C2-190D2B48B3A7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04800"/>
            <a:ext cx="8001000" cy="762000"/>
          </a:xfrm>
          <a:noFill/>
        </p:spPr>
        <p:txBody>
          <a:bodyPr/>
          <a:lstStyle/>
          <a:p>
            <a:pPr eaLnBrk="1" hangingPunct="1"/>
            <a:r>
              <a:rPr lang="en-US" dirty="0"/>
              <a:t>Pointers and Index Registers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1295400"/>
            <a:ext cx="8001000" cy="5029200"/>
          </a:xfrm>
          <a:noFill/>
        </p:spPr>
        <p:txBody>
          <a:bodyPr>
            <a:normAutofit lnSpcReduction="10000"/>
          </a:bodyPr>
          <a:lstStyle/>
          <a:p>
            <a:pPr algn="just" eaLnBrk="1" hangingPunct="1"/>
            <a:r>
              <a:rPr lang="en-US" sz="2000" dirty="0"/>
              <a:t>These can be accessed only as 16 bit registers.</a:t>
            </a:r>
          </a:p>
          <a:p>
            <a:pPr algn="just" eaLnBrk="1" hangingPunct="1"/>
            <a:r>
              <a:rPr lang="en-US" sz="2000" b="1" dirty="0"/>
              <a:t>IP - instruction pointer</a:t>
            </a:r>
            <a:r>
              <a:rPr lang="en-US" sz="2000" dirty="0"/>
              <a:t>: Always points to next instruction to be executed. IP register always works together with CS segment register and it points to currently executing instruction.</a:t>
            </a:r>
          </a:p>
          <a:p>
            <a:pPr algn="just" eaLnBrk="1" hangingPunct="1"/>
            <a:r>
              <a:rPr lang="en-US" sz="2000" b="1" dirty="0"/>
              <a:t>SI - source index register</a:t>
            </a:r>
            <a:r>
              <a:rPr lang="en-US" sz="2000" dirty="0"/>
              <a:t>: Can be used for pointer addressing of data. Offset address relative to DS </a:t>
            </a:r>
          </a:p>
          <a:p>
            <a:pPr algn="just" eaLnBrk="1" hangingPunct="1"/>
            <a:r>
              <a:rPr lang="en-US" sz="2000" b="1" dirty="0"/>
              <a:t>DI - destination index register</a:t>
            </a:r>
            <a:r>
              <a:rPr lang="en-US" sz="2000" dirty="0"/>
              <a:t>: Can be used for pointer addressing of data . Offset address relative to ES </a:t>
            </a:r>
          </a:p>
          <a:p>
            <a:pPr algn="just" eaLnBrk="1" hangingPunct="1"/>
            <a:r>
              <a:rPr lang="en-US" sz="2000" b="1" dirty="0"/>
              <a:t>SI</a:t>
            </a:r>
            <a:r>
              <a:rPr lang="en-US" sz="2000" dirty="0"/>
              <a:t> and </a:t>
            </a:r>
            <a:r>
              <a:rPr lang="en-US" sz="2000" b="1" dirty="0"/>
              <a:t>DI </a:t>
            </a:r>
            <a:r>
              <a:rPr lang="en-US" sz="2000" dirty="0"/>
              <a:t>used in string movement instructions.</a:t>
            </a:r>
          </a:p>
          <a:p>
            <a:pPr algn="just" eaLnBrk="1" hangingPunct="1"/>
            <a:r>
              <a:rPr lang="en-US" sz="2000" b="1" dirty="0"/>
              <a:t>SP</a:t>
            </a:r>
            <a:r>
              <a:rPr lang="en-US" sz="2000" dirty="0"/>
              <a:t> and </a:t>
            </a:r>
            <a:r>
              <a:rPr lang="en-US" sz="2000" b="1" dirty="0"/>
              <a:t>BP</a:t>
            </a:r>
            <a:r>
              <a:rPr lang="en-US" sz="2000" dirty="0"/>
              <a:t> are used to access data inside the stack segment</a:t>
            </a:r>
          </a:p>
          <a:p>
            <a:pPr algn="just" eaLnBrk="1" hangingPunct="1"/>
            <a:r>
              <a:rPr lang="en-US" sz="2000" b="1" dirty="0"/>
              <a:t>BP - base pointer</a:t>
            </a:r>
            <a:r>
              <a:rPr lang="en-US" sz="2000" dirty="0"/>
              <a:t>: Primarily used to access parameters passed via the stack. Offset address relative to SS </a:t>
            </a:r>
          </a:p>
          <a:p>
            <a:pPr algn="just" eaLnBrk="1" hangingPunct="1"/>
            <a:r>
              <a:rPr lang="en-US" sz="2000" b="1" dirty="0"/>
              <a:t>SP – stack pointer</a:t>
            </a:r>
            <a:r>
              <a:rPr lang="en-US" sz="2000" dirty="0"/>
              <a:t>: Always points to top item on the stack. Offset address relative to SS </a:t>
            </a:r>
          </a:p>
          <a:p>
            <a:pPr marL="342900" lvl="1" indent="-342900" algn="just">
              <a:buFontTx/>
              <a:buChar char="•"/>
            </a:pPr>
            <a:endParaRPr lang="en-US" sz="2000" dirty="0"/>
          </a:p>
          <a:p>
            <a:pPr algn="just" eaLnBrk="1" hangingPunct="1"/>
            <a:endParaRPr lang="en-US" sz="2000" dirty="0"/>
          </a:p>
          <a:p>
            <a:pPr algn="just" eaLnBrk="1" hangingPunct="1"/>
            <a:endParaRPr lang="en-US" sz="2000" dirty="0"/>
          </a:p>
          <a:p>
            <a:pPr algn="just" eaLnBrk="1" hangingPunct="1"/>
            <a:endParaRPr lang="en-US" sz="2000" dirty="0"/>
          </a:p>
          <a:p>
            <a:pPr algn="just" eaLnBrk="1" hangingPunct="1"/>
            <a:endParaRPr lang="en-US" sz="2000" dirty="0"/>
          </a:p>
          <a:p>
            <a:pPr eaLnBrk="1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B22DA3-40DE-4E27-A308-E127EE82DD5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Picture 1027"/>
          <p:cNvPicPr>
            <a:picLocks noChangeAspect="1" noChangeArrowheads="1"/>
          </p:cNvPicPr>
          <p:nvPr/>
        </p:nvPicPr>
        <p:blipFill>
          <a:blip r:embed="rId2" cstate="print"/>
          <a:srcRect r="25533"/>
          <a:stretch>
            <a:fillRect/>
          </a:stretch>
        </p:blipFill>
        <p:spPr bwMode="auto">
          <a:xfrm>
            <a:off x="5334000" y="1219200"/>
            <a:ext cx="5334000" cy="130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6" name="Text Box 1028"/>
          <p:cNvSpPr txBox="1">
            <a:spLocks noChangeArrowheads="1"/>
          </p:cNvSpPr>
          <p:nvPr/>
        </p:nvSpPr>
        <p:spPr bwMode="auto">
          <a:xfrm>
            <a:off x="1981200" y="2667000"/>
            <a:ext cx="5486400" cy="3231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  <a:buFont typeface="Wingdings" pitchFamily="2" charset="2"/>
              <a:buChar char="q"/>
            </a:pPr>
            <a:r>
              <a:rPr lang="en-US" sz="2400" dirty="0"/>
              <a:t> Each 1 or 0 is called a </a:t>
            </a:r>
            <a:r>
              <a:rPr lang="en-US" sz="2400" i="1" dirty="0"/>
              <a:t>bit</a:t>
            </a:r>
            <a:r>
              <a:rPr lang="en-US" sz="2400" dirty="0"/>
              <a:t>.</a:t>
            </a:r>
          </a:p>
          <a:p>
            <a:pPr algn="just">
              <a:spcBef>
                <a:spcPct val="50000"/>
              </a:spcBef>
              <a:buFont typeface="Wingdings" pitchFamily="2" charset="2"/>
              <a:buChar char="q"/>
            </a:pPr>
            <a:r>
              <a:rPr lang="en-US" sz="2400" dirty="0"/>
              <a:t> Group of 4 bits = </a:t>
            </a:r>
            <a:r>
              <a:rPr lang="en-US" sz="2400" b="1" dirty="0"/>
              <a:t>N</a:t>
            </a:r>
            <a:r>
              <a:rPr lang="en-US" sz="2400" dirty="0"/>
              <a:t>ibble</a:t>
            </a:r>
          </a:p>
          <a:p>
            <a:pPr algn="just">
              <a:spcBef>
                <a:spcPct val="50000"/>
              </a:spcBef>
              <a:buFont typeface="Wingdings" pitchFamily="2" charset="2"/>
              <a:buChar char="q"/>
            </a:pPr>
            <a:r>
              <a:rPr lang="en-US" sz="2400" dirty="0"/>
              <a:t> Group of 8 bits = </a:t>
            </a:r>
            <a:r>
              <a:rPr lang="en-US" sz="2400" b="1" dirty="0"/>
              <a:t>B</a:t>
            </a:r>
            <a:r>
              <a:rPr lang="en-US" sz="2400" dirty="0"/>
              <a:t>yte</a:t>
            </a:r>
          </a:p>
          <a:p>
            <a:pPr algn="just">
              <a:spcBef>
                <a:spcPct val="50000"/>
              </a:spcBef>
              <a:buFont typeface="Wingdings" pitchFamily="2" charset="2"/>
              <a:buChar char="q"/>
            </a:pPr>
            <a:r>
              <a:rPr lang="en-US" sz="2400" dirty="0"/>
              <a:t> Group of 16 bits = </a:t>
            </a:r>
            <a:r>
              <a:rPr lang="en-US" sz="2400" b="1" dirty="0"/>
              <a:t>W</a:t>
            </a:r>
            <a:r>
              <a:rPr lang="en-US" sz="2400" dirty="0"/>
              <a:t>ord</a:t>
            </a:r>
          </a:p>
          <a:p>
            <a:pPr algn="just">
              <a:spcBef>
                <a:spcPct val="50000"/>
              </a:spcBef>
              <a:buFont typeface="Wingdings" pitchFamily="2" charset="2"/>
              <a:buChar char="q"/>
            </a:pPr>
            <a:r>
              <a:rPr lang="en-US" sz="2400" dirty="0"/>
              <a:t> Group of 32 bits = </a:t>
            </a:r>
            <a:r>
              <a:rPr lang="en-US" sz="2400" b="1" dirty="0"/>
              <a:t>D</a:t>
            </a:r>
            <a:r>
              <a:rPr lang="en-US" sz="2400" dirty="0"/>
              <a:t>ouble words</a:t>
            </a:r>
          </a:p>
          <a:p>
            <a:pPr algn="just">
              <a:spcBef>
                <a:spcPct val="50000"/>
              </a:spcBef>
              <a:buFont typeface="Wingdings" pitchFamily="2" charset="2"/>
              <a:buChar char="q"/>
            </a:pPr>
            <a:endParaRPr lang="en-US" sz="240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Bits, Bytes and Double words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Prefixes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1219200"/>
            <a:ext cx="80010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68</TotalTime>
  <Words>736</Words>
  <Application>Microsoft Office PowerPoint</Application>
  <PresentationFormat>Widescreen</PresentationFormat>
  <Paragraphs>92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Century Gothic</vt:lpstr>
      <vt:lpstr>Times New Roman</vt:lpstr>
      <vt:lpstr>Wingdings</vt:lpstr>
      <vt:lpstr>Wingdings 3</vt:lpstr>
      <vt:lpstr>Wisp</vt:lpstr>
      <vt:lpstr>Computer Organization &amp; Assembly Language</vt:lpstr>
      <vt:lpstr>CPU</vt:lpstr>
      <vt:lpstr>Execution Unit (EU)</vt:lpstr>
      <vt:lpstr>Bus Interface Unit (BIU)</vt:lpstr>
      <vt:lpstr>PowerPoint Presentation</vt:lpstr>
      <vt:lpstr>Registers</vt:lpstr>
      <vt:lpstr>8086 Internal registers 16 bits (2 bytes each)</vt:lpstr>
      <vt:lpstr>General Purpose/Data Registers</vt:lpstr>
      <vt:lpstr>Segment Registers</vt:lpstr>
      <vt:lpstr>Pointers and Index Registers</vt:lpstr>
      <vt:lpstr>Bits, Bytes and Double words</vt:lpstr>
      <vt:lpstr>Common Prefixes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&amp; Assembly Language</dc:title>
  <dc:creator>Ihtisham ul haq</dc:creator>
  <cp:lastModifiedBy>Ihtisham ul haq</cp:lastModifiedBy>
  <cp:revision>3</cp:revision>
  <dcterms:created xsi:type="dcterms:W3CDTF">2023-10-17T17:30:28Z</dcterms:created>
  <dcterms:modified xsi:type="dcterms:W3CDTF">2023-10-25T19:23:02Z</dcterms:modified>
</cp:coreProperties>
</file>