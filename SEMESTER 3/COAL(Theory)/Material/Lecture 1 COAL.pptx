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9" r:id="rId4"/>
    <p:sldId id="268" r:id="rId5"/>
    <p:sldId id="315" r:id="rId6"/>
    <p:sldId id="310" r:id="rId7"/>
    <p:sldId id="306" r:id="rId8"/>
    <p:sldId id="311" r:id="rId9"/>
    <p:sldId id="338" r:id="rId10"/>
    <p:sldId id="328" r:id="rId11"/>
    <p:sldId id="329" r:id="rId12"/>
    <p:sldId id="330" r:id="rId13"/>
    <p:sldId id="285" r:id="rId14"/>
    <p:sldId id="286" r:id="rId15"/>
    <p:sldId id="287" r:id="rId16"/>
    <p:sldId id="288" r:id="rId17"/>
    <p:sldId id="289" r:id="rId18"/>
    <p:sldId id="31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4" autoAdjust="0"/>
    <p:restoredTop sz="94660"/>
  </p:normalViewPr>
  <p:slideViewPr>
    <p:cSldViewPr snapToGrid="0">
      <p:cViewPr>
        <p:scale>
          <a:sx n="75" d="100"/>
          <a:sy n="75" d="100"/>
        </p:scale>
        <p:origin x="1950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D7FFC9-EF6A-4132-AE34-E99517C5E50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58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C2EB120-07B7-47BC-BFD9-130A811B3E11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78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C063D98-8B40-48B6-99F1-885F767B6F08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93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3753B6-6CC1-47E1-B294-0626EA6BCD6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404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EE9C4F-6447-4058-BBF5-2058D74D205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201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C69A16-E131-4450-97B2-5C9BB01761C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895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6C22FF-EE8D-49CB-883B-C1EC3EECDBF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971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 = Logical aspects</a:t>
            </a:r>
          </a:p>
          <a:p>
            <a:r>
              <a:rPr lang="en-US" dirty="0"/>
              <a:t>Explain</a:t>
            </a:r>
            <a:r>
              <a:rPr lang="en-US" baseline="0" dirty="0"/>
              <a:t> the terms underlined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AB212B-14B6-45DE-B243-80E89BC63FF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62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4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0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3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4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61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1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2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7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111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0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4688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33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62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1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642CD-AAAD-4E54-BAD2-9AEC05630F5D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6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54D1-B773-6DC6-6A36-C4903D076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Organization &amp; Assembly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092D9-7E8A-0F7D-03F8-2132B9F1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2024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About this Course</a:t>
            </a:r>
          </a:p>
          <a:p>
            <a:r>
              <a:rPr lang="en-US" dirty="0"/>
              <a:t>Basic Structure of Computer</a:t>
            </a:r>
          </a:p>
          <a:p>
            <a:r>
              <a:rPr lang="en-US" dirty="0"/>
              <a:t>What is Computer Organization?</a:t>
            </a:r>
          </a:p>
          <a:p>
            <a:r>
              <a:rPr lang="en-US" dirty="0"/>
              <a:t>About Assembly Language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0" y="1371600"/>
            <a:ext cx="8229600" cy="4785360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</a:pPr>
            <a:r>
              <a:rPr lang="en-US" sz="2400" dirty="0"/>
              <a:t>To understand organization of a computer system</a:t>
            </a:r>
          </a:p>
          <a:p>
            <a:pPr lvl="1" algn="just">
              <a:spcAft>
                <a:spcPts val="500"/>
              </a:spcAft>
            </a:pPr>
            <a:r>
              <a:rPr lang="en-US" sz="2100" dirty="0"/>
              <a:t>To gain an insight knowledge about the </a:t>
            </a:r>
            <a:r>
              <a:rPr lang="en-US" sz="2100" u="sng" dirty="0"/>
              <a:t>internal architecture</a:t>
            </a:r>
            <a:r>
              <a:rPr lang="en-US" sz="2100" dirty="0"/>
              <a:t> and working of </a:t>
            </a:r>
            <a:r>
              <a:rPr lang="en-US" sz="2100" u="sng" dirty="0"/>
              <a:t>microprocessors</a:t>
            </a:r>
            <a:r>
              <a:rPr lang="en-US" sz="2100" dirty="0"/>
              <a:t>. </a:t>
            </a:r>
          </a:p>
          <a:p>
            <a:pPr lvl="1" algn="just">
              <a:spcAft>
                <a:spcPts val="500"/>
              </a:spcAft>
            </a:pPr>
            <a:r>
              <a:rPr lang="en-US" sz="2100" dirty="0"/>
              <a:t>To understand working of </a:t>
            </a:r>
            <a:r>
              <a:rPr lang="en-US" sz="2100" u="sng" dirty="0"/>
              <a:t>memory devices</a:t>
            </a:r>
            <a:r>
              <a:rPr lang="en-US" sz="2100" dirty="0"/>
              <a:t>, </a:t>
            </a:r>
            <a:r>
              <a:rPr lang="en-US" sz="2100" u="sng" dirty="0"/>
              <a:t>interrupt controllers</a:t>
            </a:r>
            <a:r>
              <a:rPr lang="en-US" sz="2100" dirty="0"/>
              <a:t> and </a:t>
            </a:r>
            <a:r>
              <a:rPr lang="en-US" sz="2100" u="sng" dirty="0"/>
              <a:t>I/O devices</a:t>
            </a:r>
            <a:r>
              <a:rPr lang="en-US" sz="2100" dirty="0"/>
              <a:t>.</a:t>
            </a:r>
          </a:p>
          <a:p>
            <a:pPr algn="just">
              <a:spcAft>
                <a:spcPts val="500"/>
              </a:spcAft>
            </a:pPr>
            <a:r>
              <a:rPr lang="en-US" sz="2400" dirty="0"/>
              <a:t>To learn Assembly Language</a:t>
            </a:r>
          </a:p>
          <a:p>
            <a:pPr lvl="1" algn="just">
              <a:spcAft>
                <a:spcPts val="500"/>
              </a:spcAft>
            </a:pPr>
            <a:r>
              <a:rPr lang="en-US" sz="2100" dirty="0"/>
              <a:t>To understand how low level logic is employed for problem solving by using assembly language as a tool.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Structure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1825625" y="1527176"/>
            <a:ext cx="8504238" cy="987425"/>
          </a:xfrm>
        </p:spPr>
        <p:txBody>
          <a:bodyPr/>
          <a:lstStyle/>
          <a:p>
            <a:pPr algn="just" eaLnBrk="1" hangingPunct="1"/>
            <a:r>
              <a:rPr lang="en-GB" b="1" dirty="0"/>
              <a:t>Structure</a:t>
            </a:r>
            <a:r>
              <a:rPr lang="en-GB" dirty="0"/>
              <a:t> is the way in which components relate to each other</a:t>
            </a:r>
          </a:p>
          <a:p>
            <a:pPr eaLnBrk="1" hangingPunct="1"/>
            <a:endParaRPr lang="en-GB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0D3016-F455-4320-84C8-A2D9C73336B1}" type="slidenum">
              <a:rPr lang="en-US"/>
              <a:pPr>
                <a:defRPr/>
              </a:pPr>
              <a:t>4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2590801"/>
            <a:ext cx="4895850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Difference in Peripherals &amp; Communication Lines 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954505" y="1830387"/>
            <a:ext cx="8229600" cy="4708525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</a:pPr>
            <a:r>
              <a:rPr lang="en-US" sz="2400" dirty="0"/>
              <a:t>When data is received from or delivered by a device that is directly connected to the computer, process is called </a:t>
            </a:r>
            <a:r>
              <a:rPr lang="en-US" sz="2400" b="1" dirty="0"/>
              <a:t>Input-Output</a:t>
            </a:r>
            <a:r>
              <a:rPr lang="en-US" sz="2400" dirty="0"/>
              <a:t> (I/O).</a:t>
            </a:r>
          </a:p>
          <a:p>
            <a:pPr algn="just">
              <a:spcAft>
                <a:spcPts val="500"/>
              </a:spcAft>
            </a:pPr>
            <a:r>
              <a:rPr lang="en-US" sz="2400" dirty="0"/>
              <a:t>When data are moved over longer distance, to or from a remote device, the process is known as </a:t>
            </a:r>
            <a:r>
              <a:rPr lang="en-US" sz="2400" b="1" dirty="0"/>
              <a:t>Data Communication</a:t>
            </a:r>
            <a:r>
              <a:rPr lang="en-US" sz="2400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95BC5C-7F91-493A-81D3-12C74894F1E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Oval 2" descr="50%"/>
          <p:cNvSpPr>
            <a:spLocks noChangeArrowheads="1"/>
          </p:cNvSpPr>
          <p:nvPr/>
        </p:nvSpPr>
        <p:spPr bwMode="auto">
          <a:xfrm>
            <a:off x="5410200" y="2057400"/>
            <a:ext cx="4724400" cy="4648200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0" hangingPunct="0"/>
            <a:endParaRPr lang="en-US" sz="1600">
              <a:latin typeface="Georgia" pitchFamily="18" charset="0"/>
            </a:endParaRPr>
          </a:p>
        </p:txBody>
      </p:sp>
      <p:sp>
        <p:nvSpPr>
          <p:cNvPr id="19459" name="Oval 3"/>
          <p:cNvSpPr>
            <a:spLocks noChangeArrowheads="1"/>
          </p:cNvSpPr>
          <p:nvPr/>
        </p:nvSpPr>
        <p:spPr bwMode="auto">
          <a:xfrm>
            <a:off x="6934200" y="3581400"/>
            <a:ext cx="1524000" cy="152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61722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title"/>
          </p:nvPr>
        </p:nvSpPr>
        <p:spPr>
          <a:ln cap="flat">
            <a:solidFill>
              <a:schemeClr val="tx1"/>
            </a:solidFill>
          </a:ln>
        </p:spPr>
        <p:txBody>
          <a:bodyPr vert="horz" lIns="90000" tIns="46800" rIns="90000" bIns="46800" rtlCol="0" anchor="ctr">
            <a:normAutofit/>
          </a:bodyPr>
          <a:lstStyle/>
          <a:p>
            <a:pPr eaLnBrk="1" hangingPunct="1"/>
            <a:r>
              <a:rPr lang="en-GB" dirty="0"/>
              <a:t>Structure - Top Level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29072-6184-4002-A8D2-BC86BFBC4F25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19463" name="Oval 6"/>
          <p:cNvSpPr>
            <a:spLocks noChangeArrowheads="1"/>
          </p:cNvSpPr>
          <p:nvPr/>
        </p:nvSpPr>
        <p:spPr bwMode="auto">
          <a:xfrm>
            <a:off x="2057400" y="3657600"/>
            <a:ext cx="10668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19464" name="Oval 7"/>
          <p:cNvSpPr>
            <a:spLocks noChangeArrowheads="1"/>
          </p:cNvSpPr>
          <p:nvPr/>
        </p:nvSpPr>
        <p:spPr bwMode="auto">
          <a:xfrm>
            <a:off x="79248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19465" name="Oval 8"/>
          <p:cNvSpPr>
            <a:spLocks noChangeArrowheads="1"/>
          </p:cNvSpPr>
          <p:nvPr/>
        </p:nvSpPr>
        <p:spPr bwMode="auto">
          <a:xfrm>
            <a:off x="7010400" y="48006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19466" name="Text Box 9"/>
          <p:cNvSpPr txBox="1">
            <a:spLocks noChangeArrowheads="1"/>
          </p:cNvSpPr>
          <p:nvPr/>
        </p:nvSpPr>
        <p:spPr bwMode="auto">
          <a:xfrm>
            <a:off x="2043114" y="3946526"/>
            <a:ext cx="1093867" cy="34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Computer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19467" name="Text Box 10"/>
          <p:cNvSpPr txBox="1">
            <a:spLocks noChangeArrowheads="1"/>
          </p:cNvSpPr>
          <p:nvPr/>
        </p:nvSpPr>
        <p:spPr bwMode="auto">
          <a:xfrm>
            <a:off x="8153401" y="3048001"/>
            <a:ext cx="947993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Main 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Memory</a:t>
            </a:r>
          </a:p>
        </p:txBody>
      </p:sp>
      <p:sp>
        <p:nvSpPr>
          <p:cNvPr id="19468" name="Text Box 11"/>
          <p:cNvSpPr txBox="1">
            <a:spLocks noChangeArrowheads="1"/>
          </p:cNvSpPr>
          <p:nvPr/>
        </p:nvSpPr>
        <p:spPr bwMode="auto">
          <a:xfrm>
            <a:off x="7315201" y="5133976"/>
            <a:ext cx="829371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Input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Output</a:t>
            </a:r>
          </a:p>
        </p:txBody>
      </p:sp>
      <p:sp>
        <p:nvSpPr>
          <p:cNvPr id="19469" name="Text Box 12"/>
          <p:cNvSpPr txBox="1">
            <a:spLocks noChangeArrowheads="1"/>
          </p:cNvSpPr>
          <p:nvPr/>
        </p:nvSpPr>
        <p:spPr bwMode="auto">
          <a:xfrm>
            <a:off x="6934200" y="4067176"/>
            <a:ext cx="1640490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Systems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Interconnection</a:t>
            </a:r>
          </a:p>
        </p:txBody>
      </p:sp>
      <p:sp>
        <p:nvSpPr>
          <p:cNvPr id="19470" name="Line 13"/>
          <p:cNvSpPr>
            <a:spLocks noChangeShapeType="1"/>
          </p:cNvSpPr>
          <p:nvPr/>
        </p:nvSpPr>
        <p:spPr bwMode="auto">
          <a:xfrm flipV="1">
            <a:off x="2590800" y="2209800"/>
            <a:ext cx="4343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471" name="Line 14"/>
          <p:cNvSpPr>
            <a:spLocks noChangeShapeType="1"/>
          </p:cNvSpPr>
          <p:nvPr/>
        </p:nvSpPr>
        <p:spPr bwMode="auto">
          <a:xfrm>
            <a:off x="2590800" y="4724400"/>
            <a:ext cx="41910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472" name="Text Box 15"/>
          <p:cNvSpPr txBox="1">
            <a:spLocks noChangeArrowheads="1"/>
          </p:cNvSpPr>
          <p:nvPr/>
        </p:nvSpPr>
        <p:spPr bwMode="auto">
          <a:xfrm>
            <a:off x="1814514" y="2346326"/>
            <a:ext cx="1222107" cy="34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Peripherals</a:t>
            </a:r>
          </a:p>
        </p:txBody>
      </p:sp>
      <p:sp>
        <p:nvSpPr>
          <p:cNvPr id="19473" name="Text Box 16"/>
          <p:cNvSpPr txBox="1">
            <a:spLocks noChangeArrowheads="1"/>
          </p:cNvSpPr>
          <p:nvPr/>
        </p:nvSpPr>
        <p:spPr bwMode="auto">
          <a:xfrm>
            <a:off x="1662113" y="5622926"/>
            <a:ext cx="1648506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Communication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lines</a:t>
            </a:r>
          </a:p>
        </p:txBody>
      </p:sp>
      <p:sp>
        <p:nvSpPr>
          <p:cNvPr id="19474" name="Text Box 17"/>
          <p:cNvSpPr txBox="1">
            <a:spLocks noChangeArrowheads="1"/>
          </p:cNvSpPr>
          <p:nvPr/>
        </p:nvSpPr>
        <p:spPr bwMode="auto">
          <a:xfrm>
            <a:off x="6324601" y="2971800"/>
            <a:ext cx="1241425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Central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Processing 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Unit</a:t>
            </a:r>
          </a:p>
        </p:txBody>
      </p:sp>
      <p:sp>
        <p:nvSpPr>
          <p:cNvPr id="19475" name="Line 18"/>
          <p:cNvSpPr>
            <a:spLocks noChangeShapeType="1"/>
          </p:cNvSpPr>
          <p:nvPr/>
        </p:nvSpPr>
        <p:spPr bwMode="auto">
          <a:xfrm>
            <a:off x="2438400" y="27432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476" name="Line 19"/>
          <p:cNvSpPr>
            <a:spLocks noChangeShapeType="1"/>
          </p:cNvSpPr>
          <p:nvPr/>
        </p:nvSpPr>
        <p:spPr bwMode="auto">
          <a:xfrm>
            <a:off x="2438400" y="4724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477" name="Text Box 20"/>
          <p:cNvSpPr txBox="1">
            <a:spLocks noChangeArrowheads="1"/>
          </p:cNvSpPr>
          <p:nvPr/>
        </p:nvSpPr>
        <p:spPr bwMode="auto">
          <a:xfrm>
            <a:off x="7114830" y="2254718"/>
            <a:ext cx="1321493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/>
            <a:r>
              <a:rPr lang="en-US" sz="2000">
                <a:latin typeface="Georgia" pitchFamily="18" charset="0"/>
              </a:rPr>
              <a:t>Computer</a:t>
            </a:r>
            <a:endParaRPr lang="en-US" sz="1600"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– Top Level 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47800"/>
            <a:ext cx="8382000" cy="38100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Four main structural components:</a:t>
            </a:r>
          </a:p>
          <a:p>
            <a:pPr algn="just">
              <a:buNone/>
            </a:pPr>
            <a:endParaRPr lang="en-US" dirty="0"/>
          </a:p>
          <a:p>
            <a:pPr lvl="1" algn="just"/>
            <a:r>
              <a:rPr lang="en-US" b="1" dirty="0"/>
              <a:t>CPU</a:t>
            </a:r>
            <a:r>
              <a:rPr lang="en-US" dirty="0"/>
              <a:t>: controls the operation of the computer and performs its data processing functions; often referred as processor.</a:t>
            </a:r>
          </a:p>
          <a:p>
            <a:pPr lvl="1" algn="just"/>
            <a:r>
              <a:rPr lang="en-US" b="1" dirty="0"/>
              <a:t>Main Memory</a:t>
            </a:r>
            <a:r>
              <a:rPr lang="en-US" dirty="0"/>
              <a:t>: stores data</a:t>
            </a:r>
          </a:p>
          <a:p>
            <a:pPr lvl="1" algn="just"/>
            <a:r>
              <a:rPr lang="en-US" b="1" dirty="0"/>
              <a:t>I/O</a:t>
            </a:r>
            <a:r>
              <a:rPr lang="en-US" dirty="0"/>
              <a:t>: moves data between the computer and its external environment.</a:t>
            </a:r>
          </a:p>
          <a:p>
            <a:pPr lvl="1" algn="just"/>
            <a:r>
              <a:rPr lang="en-US" b="1" dirty="0"/>
              <a:t>System Interconnections</a:t>
            </a:r>
            <a:r>
              <a:rPr lang="en-US" dirty="0"/>
              <a:t>: Mechanism for communication among CPU, memory, and I/O.</a:t>
            </a:r>
          </a:p>
          <a:p>
            <a:pPr lvl="1"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Oval 2" descr="50%"/>
          <p:cNvSpPr>
            <a:spLocks noChangeArrowheads="1"/>
          </p:cNvSpPr>
          <p:nvPr/>
        </p:nvSpPr>
        <p:spPr bwMode="auto">
          <a:xfrm>
            <a:off x="5410200" y="2057400"/>
            <a:ext cx="4724400" cy="4648200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0" hangingPunct="0"/>
            <a:endParaRPr lang="en-US" sz="1600">
              <a:latin typeface="Georgia" pitchFamily="18" charset="0"/>
            </a:endParaRPr>
          </a:p>
        </p:txBody>
      </p:sp>
      <p:sp>
        <p:nvSpPr>
          <p:cNvPr id="20483" name="Oval 3"/>
          <p:cNvSpPr>
            <a:spLocks noChangeArrowheads="1"/>
          </p:cNvSpPr>
          <p:nvPr/>
        </p:nvSpPr>
        <p:spPr bwMode="auto">
          <a:xfrm>
            <a:off x="6934200" y="3581400"/>
            <a:ext cx="1524000" cy="152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>
          <a:ln cap="flat">
            <a:solidFill>
              <a:schemeClr val="tx1"/>
            </a:solidFill>
          </a:ln>
        </p:spPr>
        <p:txBody>
          <a:bodyPr vert="horz" lIns="90000" tIns="46800" rIns="90000" bIns="46800" rtlCol="0" anchor="ctr">
            <a:normAutofit/>
          </a:bodyPr>
          <a:lstStyle/>
          <a:p>
            <a:pPr eaLnBrk="1" hangingPunct="1"/>
            <a:r>
              <a:rPr lang="en-GB"/>
              <a:t>Structure - The CPU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01780C-C62D-41D8-9141-169C5D5ADE34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0486" name="Oval 5"/>
          <p:cNvSpPr>
            <a:spLocks noChangeArrowheads="1"/>
          </p:cNvSpPr>
          <p:nvPr/>
        </p:nvSpPr>
        <p:spPr bwMode="auto">
          <a:xfrm>
            <a:off x="61722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87" name="Oval 6"/>
          <p:cNvSpPr>
            <a:spLocks noChangeArrowheads="1"/>
          </p:cNvSpPr>
          <p:nvPr/>
        </p:nvSpPr>
        <p:spPr bwMode="auto">
          <a:xfrm>
            <a:off x="1600200" y="2971800"/>
            <a:ext cx="1981200" cy="2057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88" name="Oval 7"/>
          <p:cNvSpPr>
            <a:spLocks noChangeArrowheads="1"/>
          </p:cNvSpPr>
          <p:nvPr/>
        </p:nvSpPr>
        <p:spPr bwMode="auto">
          <a:xfrm>
            <a:off x="79248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89" name="Oval 8"/>
          <p:cNvSpPr>
            <a:spLocks noChangeArrowheads="1"/>
          </p:cNvSpPr>
          <p:nvPr/>
        </p:nvSpPr>
        <p:spPr bwMode="auto">
          <a:xfrm>
            <a:off x="7010400" y="48006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90" name="Text Box 9"/>
          <p:cNvSpPr txBox="1">
            <a:spLocks noChangeArrowheads="1"/>
          </p:cNvSpPr>
          <p:nvPr/>
        </p:nvSpPr>
        <p:spPr bwMode="auto">
          <a:xfrm>
            <a:off x="2127251" y="3016251"/>
            <a:ext cx="1093867" cy="34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Computer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20491" name="Text Box 10"/>
          <p:cNvSpPr txBox="1">
            <a:spLocks noChangeArrowheads="1"/>
          </p:cNvSpPr>
          <p:nvPr/>
        </p:nvSpPr>
        <p:spPr bwMode="auto">
          <a:xfrm>
            <a:off x="8077201" y="2971800"/>
            <a:ext cx="1161193" cy="8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Arithmetic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and 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Login Unit</a:t>
            </a:r>
          </a:p>
        </p:txBody>
      </p:sp>
      <p:sp>
        <p:nvSpPr>
          <p:cNvPr id="20492" name="Text Box 11"/>
          <p:cNvSpPr txBox="1">
            <a:spLocks noChangeArrowheads="1"/>
          </p:cNvSpPr>
          <p:nvPr/>
        </p:nvSpPr>
        <p:spPr bwMode="auto">
          <a:xfrm>
            <a:off x="7239001" y="5133976"/>
            <a:ext cx="869447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Control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Unit</a:t>
            </a:r>
          </a:p>
        </p:txBody>
      </p:sp>
      <p:sp>
        <p:nvSpPr>
          <p:cNvPr id="20493" name="Text Box 12"/>
          <p:cNvSpPr txBox="1">
            <a:spLocks noChangeArrowheads="1"/>
          </p:cNvSpPr>
          <p:nvPr/>
        </p:nvSpPr>
        <p:spPr bwMode="auto">
          <a:xfrm>
            <a:off x="6934200" y="4067176"/>
            <a:ext cx="1640490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Internal CPU</a:t>
            </a:r>
          </a:p>
          <a:p>
            <a:pPr eaLnBrk="0" hangingPunct="0"/>
            <a:r>
              <a:rPr lang="en-GB" sz="1600">
                <a:latin typeface="Georgia" pitchFamily="18" charset="0"/>
              </a:rPr>
              <a:t>Interconnection</a:t>
            </a:r>
          </a:p>
        </p:txBody>
      </p:sp>
      <p:sp>
        <p:nvSpPr>
          <p:cNvPr id="20494" name="Line 13"/>
          <p:cNvSpPr>
            <a:spLocks noChangeShapeType="1"/>
          </p:cNvSpPr>
          <p:nvPr/>
        </p:nvSpPr>
        <p:spPr bwMode="auto">
          <a:xfrm flipV="1">
            <a:off x="3048000" y="2209800"/>
            <a:ext cx="38862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20495" name="Line 14"/>
          <p:cNvSpPr>
            <a:spLocks noChangeShapeType="1"/>
          </p:cNvSpPr>
          <p:nvPr/>
        </p:nvSpPr>
        <p:spPr bwMode="auto">
          <a:xfrm>
            <a:off x="3048000" y="4343400"/>
            <a:ext cx="373380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20496" name="Text Box 15"/>
          <p:cNvSpPr txBox="1">
            <a:spLocks noChangeArrowheads="1"/>
          </p:cNvSpPr>
          <p:nvPr/>
        </p:nvSpPr>
        <p:spPr bwMode="auto">
          <a:xfrm>
            <a:off x="6353176" y="3168651"/>
            <a:ext cx="1020129" cy="34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eaLnBrk="0" hangingPunct="0"/>
            <a:r>
              <a:rPr lang="en-GB" sz="1600">
                <a:latin typeface="Georgia" pitchFamily="18" charset="0"/>
              </a:rPr>
              <a:t>Registers</a:t>
            </a:r>
          </a:p>
        </p:txBody>
      </p:sp>
      <p:sp>
        <p:nvSpPr>
          <p:cNvPr id="20497" name="Oval 16"/>
          <p:cNvSpPr>
            <a:spLocks noChangeArrowheads="1"/>
          </p:cNvSpPr>
          <p:nvPr/>
        </p:nvSpPr>
        <p:spPr bwMode="auto">
          <a:xfrm>
            <a:off x="2743200" y="3581400"/>
            <a:ext cx="6858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498" name="Text Box 17"/>
          <p:cNvSpPr txBox="1">
            <a:spLocks noChangeArrowheads="1"/>
          </p:cNvSpPr>
          <p:nvPr/>
        </p:nvSpPr>
        <p:spPr bwMode="auto">
          <a:xfrm>
            <a:off x="2855605" y="3807729"/>
            <a:ext cx="492740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/>
            <a:r>
              <a:rPr lang="en-US" sz="1200">
                <a:latin typeface="Georgia" pitchFamily="18" charset="0"/>
              </a:rPr>
              <a:t>CPU</a:t>
            </a:r>
            <a:endParaRPr lang="en-US" sz="1600">
              <a:latin typeface="Georgia" pitchFamily="18" charset="0"/>
            </a:endParaRPr>
          </a:p>
        </p:txBody>
      </p:sp>
      <p:sp>
        <p:nvSpPr>
          <p:cNvPr id="20499" name="Oval 18"/>
          <p:cNvSpPr>
            <a:spLocks noChangeArrowheads="1"/>
          </p:cNvSpPr>
          <p:nvPr/>
        </p:nvSpPr>
        <p:spPr bwMode="auto">
          <a:xfrm>
            <a:off x="1828800" y="3276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pPr algn="ctr" eaLnBrk="0" hangingPunct="0"/>
            <a:r>
              <a:rPr lang="en-US" sz="1200">
                <a:latin typeface="Georgia" pitchFamily="18" charset="0"/>
              </a:rPr>
              <a:t>I/O</a:t>
            </a:r>
            <a:endParaRPr lang="en-US" sz="1600">
              <a:latin typeface="Georgia" pitchFamily="18" charset="0"/>
            </a:endParaRPr>
          </a:p>
        </p:txBody>
      </p:sp>
      <p:sp>
        <p:nvSpPr>
          <p:cNvPr id="20500" name="Oval 19"/>
          <p:cNvSpPr>
            <a:spLocks noChangeArrowheads="1"/>
          </p:cNvSpPr>
          <p:nvPr/>
        </p:nvSpPr>
        <p:spPr bwMode="auto">
          <a:xfrm>
            <a:off x="1905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501" name="Oval 20"/>
          <p:cNvSpPr>
            <a:spLocks noChangeArrowheads="1"/>
          </p:cNvSpPr>
          <p:nvPr/>
        </p:nvSpPr>
        <p:spPr bwMode="auto">
          <a:xfrm>
            <a:off x="2133600" y="3581400"/>
            <a:ext cx="6858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en-US">
              <a:latin typeface="Georgia" pitchFamily="18" charset="0"/>
            </a:endParaRPr>
          </a:p>
        </p:txBody>
      </p:sp>
      <p:sp>
        <p:nvSpPr>
          <p:cNvPr id="20502" name="Text Box 21"/>
          <p:cNvSpPr txBox="1">
            <a:spLocks noChangeArrowheads="1"/>
          </p:cNvSpPr>
          <p:nvPr/>
        </p:nvSpPr>
        <p:spPr bwMode="auto">
          <a:xfrm>
            <a:off x="1892310" y="4371292"/>
            <a:ext cx="755633" cy="27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/>
            <a:r>
              <a:rPr lang="en-US" sz="1200">
                <a:latin typeface="Georgia" pitchFamily="18" charset="0"/>
              </a:rPr>
              <a:t>Memory</a:t>
            </a:r>
            <a:endParaRPr lang="en-US" sz="1600">
              <a:latin typeface="Georgia" pitchFamily="18" charset="0"/>
            </a:endParaRPr>
          </a:p>
        </p:txBody>
      </p:sp>
      <p:sp>
        <p:nvSpPr>
          <p:cNvPr id="20503" name="Text Box 22"/>
          <p:cNvSpPr txBox="1">
            <a:spLocks noChangeArrowheads="1"/>
          </p:cNvSpPr>
          <p:nvPr/>
        </p:nvSpPr>
        <p:spPr bwMode="auto">
          <a:xfrm>
            <a:off x="2138775" y="3806677"/>
            <a:ext cx="672277" cy="463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/>
            <a:r>
              <a:rPr lang="en-US" sz="1200">
                <a:latin typeface="Georgia" pitchFamily="18" charset="0"/>
              </a:rPr>
              <a:t>System</a:t>
            </a:r>
          </a:p>
          <a:p>
            <a:pPr algn="ctr" eaLnBrk="0" hangingPunct="0"/>
            <a:r>
              <a:rPr lang="en-US" sz="1200">
                <a:latin typeface="Georgia" pitchFamily="18" charset="0"/>
              </a:rPr>
              <a:t>Bus</a:t>
            </a:r>
          </a:p>
        </p:txBody>
      </p:sp>
      <p:sp>
        <p:nvSpPr>
          <p:cNvPr id="20504" name="Text Box 23"/>
          <p:cNvSpPr txBox="1">
            <a:spLocks noChangeArrowheads="1"/>
          </p:cNvSpPr>
          <p:nvPr/>
        </p:nvSpPr>
        <p:spPr bwMode="auto">
          <a:xfrm>
            <a:off x="7444870" y="2315043"/>
            <a:ext cx="697925" cy="40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0" hangingPunct="0"/>
            <a:r>
              <a:rPr lang="en-US" sz="2000">
                <a:latin typeface="Georgia" pitchFamily="18" charset="0"/>
              </a:rPr>
              <a:t>CPU</a:t>
            </a:r>
            <a:endParaRPr lang="en-US" sz="1600"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What is a Bus?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371600"/>
            <a:ext cx="8504238" cy="2286000"/>
          </a:xfrm>
        </p:spPr>
        <p:txBody>
          <a:bodyPr/>
          <a:lstStyle/>
          <a:p>
            <a:pPr algn="just" eaLnBrk="1" hangingPunct="1"/>
            <a:r>
              <a:rPr lang="en-GB" dirty="0"/>
              <a:t>A communication pathway connecting two or more devices</a:t>
            </a:r>
          </a:p>
          <a:p>
            <a:pPr algn="just" eaLnBrk="1" hangingPunct="1"/>
            <a:r>
              <a:rPr lang="en-GB" dirty="0"/>
              <a:t>Often grouped</a:t>
            </a:r>
          </a:p>
          <a:p>
            <a:pPr lvl="1" algn="just" eaLnBrk="1" hangingPunct="1"/>
            <a:r>
              <a:rPr lang="en-GB" dirty="0">
                <a:solidFill>
                  <a:schemeClr val="tx1"/>
                </a:solidFill>
              </a:rPr>
              <a:t>A number of channels in one bus</a:t>
            </a:r>
          </a:p>
          <a:p>
            <a:pPr lvl="1" algn="just" eaLnBrk="1" hangingPunct="1"/>
            <a:r>
              <a:rPr lang="en-GB" dirty="0">
                <a:solidFill>
                  <a:schemeClr val="tx1"/>
                </a:solidFill>
              </a:rPr>
              <a:t>e.g. 32 bit data bus is 32 separate single bit channels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A6C819-E8BA-4EF0-BF75-4A2E8F6505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86000" y="4659312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CPU</a:t>
            </a:r>
          </a:p>
        </p:txBody>
      </p:sp>
      <p:sp>
        <p:nvSpPr>
          <p:cNvPr id="7" name="Rectangle 6"/>
          <p:cNvSpPr/>
          <p:nvPr/>
        </p:nvSpPr>
        <p:spPr>
          <a:xfrm>
            <a:off x="5105400" y="4659312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6200" y="4659312"/>
            <a:ext cx="182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I/O</a:t>
            </a:r>
          </a:p>
        </p:txBody>
      </p:sp>
      <p:sp>
        <p:nvSpPr>
          <p:cNvPr id="9" name="U-Turn Arrow 8"/>
          <p:cNvSpPr/>
          <p:nvPr/>
        </p:nvSpPr>
        <p:spPr>
          <a:xfrm>
            <a:off x="3124200" y="4278312"/>
            <a:ext cx="5562600" cy="3810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5943600" y="4354512"/>
            <a:ext cx="228600" cy="304800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>
            <a:off x="4953000" y="3821112"/>
            <a:ext cx="2362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Address Bus</a:t>
            </a:r>
          </a:p>
        </p:txBody>
      </p:sp>
      <p:sp>
        <p:nvSpPr>
          <p:cNvPr id="12" name="Bent-Up Arrow 11"/>
          <p:cNvSpPr/>
          <p:nvPr/>
        </p:nvSpPr>
        <p:spPr>
          <a:xfrm>
            <a:off x="6019800" y="5573712"/>
            <a:ext cx="2667000" cy="4572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Bent-Up Arrow 12"/>
          <p:cNvSpPr/>
          <p:nvPr/>
        </p:nvSpPr>
        <p:spPr>
          <a:xfrm>
            <a:off x="3276600" y="5573712"/>
            <a:ext cx="2819400" cy="4572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Up Arrow 13"/>
          <p:cNvSpPr/>
          <p:nvPr/>
        </p:nvSpPr>
        <p:spPr>
          <a:xfrm>
            <a:off x="3200400" y="5573712"/>
            <a:ext cx="228600" cy="4572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TextBox 17"/>
          <p:cNvSpPr txBox="1">
            <a:spLocks noChangeArrowheads="1"/>
          </p:cNvSpPr>
          <p:nvPr/>
        </p:nvSpPr>
        <p:spPr bwMode="auto">
          <a:xfrm>
            <a:off x="4038600" y="5497512"/>
            <a:ext cx="2590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Control Bus</a:t>
            </a:r>
          </a:p>
        </p:txBody>
      </p:sp>
      <p:sp>
        <p:nvSpPr>
          <p:cNvPr id="16" name="TextBox 19"/>
          <p:cNvSpPr txBox="1">
            <a:spLocks noChangeArrowheads="1"/>
          </p:cNvSpPr>
          <p:nvPr/>
        </p:nvSpPr>
        <p:spPr bwMode="auto">
          <a:xfrm>
            <a:off x="4876800" y="6488112"/>
            <a:ext cx="2590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Data Bus</a:t>
            </a:r>
          </a:p>
        </p:txBody>
      </p:sp>
      <p:sp>
        <p:nvSpPr>
          <p:cNvPr id="17" name="Bent-Up Arrow 16"/>
          <p:cNvSpPr/>
          <p:nvPr/>
        </p:nvSpPr>
        <p:spPr>
          <a:xfrm>
            <a:off x="6248400" y="5649912"/>
            <a:ext cx="3124200" cy="685800"/>
          </a:xfrm>
          <a:prstGeom prst="bent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Up Arrow 17"/>
          <p:cNvSpPr/>
          <p:nvPr/>
        </p:nvSpPr>
        <p:spPr>
          <a:xfrm>
            <a:off x="6172200" y="5573712"/>
            <a:ext cx="304800" cy="762000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Bent-Up Arrow 18"/>
          <p:cNvSpPr/>
          <p:nvPr/>
        </p:nvSpPr>
        <p:spPr>
          <a:xfrm flipH="1">
            <a:off x="3429000" y="5573712"/>
            <a:ext cx="2819400" cy="762000"/>
          </a:xfrm>
          <a:prstGeom prst="bentUp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Data Bus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1981201" y="1371600"/>
            <a:ext cx="8348663" cy="4572000"/>
          </a:xfrm>
        </p:spPr>
        <p:txBody>
          <a:bodyPr/>
          <a:lstStyle/>
          <a:p>
            <a:pPr algn="just" eaLnBrk="1" hangingPunct="1"/>
            <a:r>
              <a:rPr lang="en-GB" dirty="0"/>
              <a:t>Carries data</a:t>
            </a:r>
          </a:p>
          <a:p>
            <a:pPr lvl="1" algn="just" eaLnBrk="1" hangingPunct="1"/>
            <a:r>
              <a:rPr lang="en-GB" dirty="0"/>
              <a:t>Remember that there is no difference between “data” and “instruction” at this level</a:t>
            </a:r>
          </a:p>
          <a:p>
            <a:pPr algn="just" eaLnBrk="1" hangingPunct="1"/>
            <a:r>
              <a:rPr lang="en-GB" dirty="0"/>
              <a:t>Width is a key determinant of performance</a:t>
            </a:r>
          </a:p>
          <a:p>
            <a:pPr lvl="1" algn="just" eaLnBrk="1" hangingPunct="1"/>
            <a:r>
              <a:rPr lang="en-GB" dirty="0"/>
              <a:t>8, 16, 32, 64 bit</a:t>
            </a:r>
          </a:p>
          <a:p>
            <a:pPr lvl="1" algn="just" eaLnBrk="1" hangingPunct="1"/>
            <a:endParaRPr lang="en-GB" dirty="0"/>
          </a:p>
          <a:p>
            <a:pPr marL="457200" lvl="1" indent="0" algn="just" eaLnBrk="1" hangingPunct="1">
              <a:buNone/>
            </a:pPr>
            <a:r>
              <a:rPr lang="en-GB" b="1" dirty="0" err="1"/>
              <a:t>BiDirectional</a:t>
            </a:r>
            <a:r>
              <a:rPr lang="en-GB" b="1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E033F8-D481-4993-90C6-652B7224014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Address bus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371600"/>
            <a:ext cx="8504238" cy="4572000"/>
          </a:xfrm>
        </p:spPr>
        <p:txBody>
          <a:bodyPr/>
          <a:lstStyle/>
          <a:p>
            <a:pPr algn="just" eaLnBrk="1" hangingPunct="1"/>
            <a:r>
              <a:rPr lang="en-GB" dirty="0"/>
              <a:t>Identify the source or destination of data</a:t>
            </a:r>
          </a:p>
          <a:p>
            <a:pPr lvl="1" algn="just"/>
            <a:r>
              <a:rPr lang="en-GB" dirty="0"/>
              <a:t>e.g. CPU needs to read an instruction (data) from a given location in memory</a:t>
            </a:r>
          </a:p>
          <a:p>
            <a:pPr algn="just" eaLnBrk="1" hangingPunct="1"/>
            <a:r>
              <a:rPr lang="en-GB" dirty="0"/>
              <a:t>Bus width determines maximum memory capacity of system</a:t>
            </a:r>
          </a:p>
          <a:p>
            <a:pPr lvl="1" algn="just" eaLnBrk="1" hangingPunct="1"/>
            <a:r>
              <a:rPr lang="en-GB" dirty="0">
                <a:solidFill>
                  <a:schemeClr val="tx1"/>
                </a:solidFill>
              </a:rPr>
              <a:t>e.g. 8080 has 16 bit address bus giving 64k address space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A6A412-DE7F-4EF0-92A1-4A3587358DC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Control Bus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371600"/>
            <a:ext cx="8382000" cy="4572000"/>
          </a:xfrm>
        </p:spPr>
        <p:txBody>
          <a:bodyPr/>
          <a:lstStyle/>
          <a:p>
            <a:pPr algn="just" eaLnBrk="1" hangingPunct="1"/>
            <a:r>
              <a:rPr lang="en-GB" dirty="0"/>
              <a:t>Control and timing information</a:t>
            </a:r>
          </a:p>
          <a:p>
            <a:pPr lvl="1" algn="just" eaLnBrk="1" hangingPunct="1"/>
            <a:r>
              <a:rPr lang="en-GB" dirty="0"/>
              <a:t>Memory read/write signal</a:t>
            </a:r>
          </a:p>
          <a:p>
            <a:pPr lvl="1" algn="just" eaLnBrk="1" hangingPunct="1"/>
            <a:r>
              <a:rPr lang="en-GB" u="sng" dirty="0"/>
              <a:t>Interrupt request</a:t>
            </a:r>
          </a:p>
          <a:p>
            <a:pPr lvl="1" algn="just" eaLnBrk="1" hangingPunct="1"/>
            <a:r>
              <a:rPr lang="en-GB" u="sng" dirty="0"/>
              <a:t>Timing signals</a:t>
            </a:r>
          </a:p>
          <a:p>
            <a:pPr lvl="1" algn="just" eaLnBrk="1" hangingPunct="1"/>
            <a:endParaRPr lang="en-GB" dirty="0"/>
          </a:p>
          <a:p>
            <a:pPr algn="just" eaLnBrk="1" hangingPunct="1"/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57F68D-9C35-45A3-8258-BC575845D14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Programming Languages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eaLnBrk="1" hangingPunct="1"/>
            <a:endParaRPr lang="en-US"/>
          </a:p>
          <a:p>
            <a:pPr eaLnBrk="1" hangingPunct="1"/>
            <a:r>
              <a:rPr lang="en-US"/>
              <a:t>High-Level Languages (HLL)</a:t>
            </a:r>
          </a:p>
          <a:p>
            <a:pPr eaLnBrk="1" hangingPunct="1"/>
            <a:r>
              <a:rPr lang="en-US"/>
              <a:t>Assembly Language</a:t>
            </a:r>
          </a:p>
          <a:p>
            <a:pPr eaLnBrk="1" hangingPunct="1"/>
            <a:r>
              <a:rPr lang="en-US"/>
              <a:t>Machine Language</a:t>
            </a:r>
          </a:p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4B7BE5-61A2-4D54-8300-208B4A8CC1E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High-Level Language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algn="just" eaLnBrk="1" hangingPunct="1"/>
            <a:r>
              <a:rPr lang="en-US" sz="2400" dirty="0"/>
              <a:t>Allow programmers to write programs that look more like natural language.</a:t>
            </a:r>
          </a:p>
          <a:p>
            <a:pPr algn="just" eaLnBrk="1" hangingPunct="1"/>
            <a:r>
              <a:rPr lang="en-US" sz="2400" dirty="0"/>
              <a:t>Examples: C++, Java, C#.NET etc</a:t>
            </a:r>
          </a:p>
          <a:p>
            <a:pPr algn="just" eaLnBrk="1" hangingPunct="1"/>
            <a:r>
              <a:rPr lang="en-US" sz="2400" dirty="0"/>
              <a:t>A program called </a:t>
            </a:r>
            <a:r>
              <a:rPr lang="en-US" sz="2400" b="1" dirty="0"/>
              <a:t>Compiler </a:t>
            </a:r>
            <a:r>
              <a:rPr lang="en-US" sz="2400" dirty="0"/>
              <a:t>is needed to translate a high-level language program into machine code.</a:t>
            </a:r>
          </a:p>
          <a:p>
            <a:pPr algn="just" eaLnBrk="1" hangingPunct="1"/>
            <a:r>
              <a:rPr lang="en-US" sz="2400" dirty="0"/>
              <a:t>Each statement usually translates into multiple machine language instructions.</a:t>
            </a:r>
          </a:p>
          <a:p>
            <a:pPr algn="just" eaLnBrk="1" hangingPunct="1"/>
            <a:endParaRPr lang="en-US" sz="2400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879A91-313A-46C1-ACC7-31C45F2E3BC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Machine Language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algn="just" eaLnBrk="1" hangingPunct="1"/>
            <a:r>
              <a:rPr lang="en-US" sz="2400">
                <a:latin typeface="Arial" pitchFamily="34" charset="0"/>
              </a:rPr>
              <a:t>The "native" language of the computer</a:t>
            </a:r>
            <a:endParaRPr lang="en-US" sz="2400"/>
          </a:p>
          <a:p>
            <a:pPr algn="just" eaLnBrk="1" hangingPunct="1"/>
            <a:r>
              <a:rPr lang="en-US" sz="2400"/>
              <a:t>Numeric instructions and operands that can be stored in memory and are directly executed by computer system. 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>
                <a:latin typeface="Arial" pitchFamily="34" charset="0"/>
              </a:rPr>
              <a:t>Each ML instruction contains an </a:t>
            </a:r>
            <a:r>
              <a:rPr lang="en-US" sz="2400" i="1">
                <a:latin typeface="Arial" pitchFamily="34" charset="0"/>
              </a:rPr>
              <a:t>op code</a:t>
            </a:r>
            <a:r>
              <a:rPr lang="en-US" sz="2400">
                <a:latin typeface="Arial" pitchFamily="34" charset="0"/>
              </a:rPr>
              <a:t> (operation code) and zero or more operands.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>
                <a:latin typeface="Arial" pitchFamily="34" charset="0"/>
              </a:rPr>
              <a:t>Examples:</a:t>
            </a:r>
          </a:p>
          <a:p>
            <a:pPr eaLnBrk="1" hangingPunct="1">
              <a:lnSpc>
                <a:spcPct val="90000"/>
              </a:lnSpc>
            </a:pPr>
            <a:endParaRPr lang="en-US" sz="2400">
              <a:latin typeface="Arial" pitchFamily="34" charset="0"/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sz="2000" b="1">
                <a:latin typeface="Courier New" pitchFamily="49" charset="0"/>
              </a:rPr>
              <a:t>Opcode	Operand		Meaning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sz="2000" b="1">
                <a:latin typeface="Courier New" pitchFamily="49" charset="0"/>
              </a:rPr>
              <a:t>-------------------------------------------------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>
                <a:latin typeface="Courier New" pitchFamily="49" charset="0"/>
              </a:rPr>
              <a:t>40				increment the AX register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>
                <a:latin typeface="Courier New" pitchFamily="49" charset="0"/>
              </a:rPr>
              <a:t>05		0005	      add 0005 to AX</a:t>
            </a:r>
          </a:p>
          <a:p>
            <a:pPr algn="just" eaLnBrk="1" hangingPunct="1"/>
            <a:endParaRPr lang="en-US" sz="2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631F28-4713-4C03-BD52-8C17FF8779A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Assembly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algn="just" eaLnBrk="1" hangingPunct="1">
              <a:defRPr/>
            </a:pPr>
            <a:r>
              <a:rPr lang="en-US" sz="2400" dirty="0"/>
              <a:t>Use instruction mnemonics that have one-to-one correspondence with machine language.</a:t>
            </a:r>
          </a:p>
          <a:p>
            <a:pPr marL="274320" indent="-274320" algn="just">
              <a:buFont typeface="Wingdings 3"/>
              <a:buChar char=""/>
              <a:defRPr/>
            </a:pPr>
            <a:r>
              <a:rPr lang="en-US" sz="2400" dirty="0">
                <a:latin typeface="Arial" pitchFamily="34" charset="0"/>
              </a:rPr>
              <a:t>An </a:t>
            </a:r>
            <a:r>
              <a:rPr lang="en-US" sz="2400" b="1" i="1" dirty="0">
                <a:latin typeface="Arial" pitchFamily="34" charset="0"/>
              </a:rPr>
              <a:t>instruction</a:t>
            </a:r>
            <a:r>
              <a:rPr lang="en-US" sz="2400" dirty="0">
                <a:latin typeface="Arial" pitchFamily="34" charset="0"/>
              </a:rPr>
              <a:t> is a symbolic representation of a single machine instruction</a:t>
            </a:r>
          </a:p>
          <a:p>
            <a:pPr marL="274320" indent="-274320">
              <a:buFont typeface="Wingdings 3"/>
              <a:buChar char=""/>
              <a:defRPr/>
            </a:pPr>
            <a:r>
              <a:rPr lang="en-US" sz="2400" dirty="0">
                <a:latin typeface="Arial" pitchFamily="34" charset="0"/>
              </a:rPr>
              <a:t>Consists of:</a:t>
            </a:r>
          </a:p>
          <a:p>
            <a:pPr marL="548640" lvl="1" indent="-274320">
              <a:buFont typeface="Wingdings 3"/>
              <a:buChar char=""/>
              <a:defRPr/>
            </a:pPr>
            <a:r>
              <a:rPr lang="en-US" dirty="0">
                <a:latin typeface="Arial" pitchFamily="34" charset="0"/>
              </a:rPr>
              <a:t>label		always optional</a:t>
            </a:r>
          </a:p>
          <a:p>
            <a:pPr marL="548640" lvl="1" indent="-274320">
              <a:buFont typeface="Wingdings 3"/>
              <a:buChar char=""/>
              <a:defRPr/>
            </a:pPr>
            <a:r>
              <a:rPr lang="en-US" dirty="0">
                <a:latin typeface="Arial" pitchFamily="34" charset="0"/>
              </a:rPr>
              <a:t>mnemonic	always required</a:t>
            </a:r>
          </a:p>
          <a:p>
            <a:pPr marL="548640" lvl="1" indent="-274320">
              <a:buFont typeface="Wingdings 3"/>
              <a:buChar char=""/>
              <a:defRPr/>
            </a:pPr>
            <a:r>
              <a:rPr lang="en-US" dirty="0">
                <a:latin typeface="Arial" pitchFamily="34" charset="0"/>
              </a:rPr>
              <a:t>operand(s)	required by some instructions</a:t>
            </a:r>
          </a:p>
          <a:p>
            <a:pPr marL="548640" lvl="1" indent="-274320">
              <a:buFont typeface="Wingdings 3"/>
              <a:buChar char=""/>
              <a:defRPr/>
            </a:pPr>
            <a:r>
              <a:rPr lang="en-US" dirty="0">
                <a:latin typeface="Arial" pitchFamily="34" charset="0"/>
              </a:rPr>
              <a:t>comment		always optional</a:t>
            </a:r>
          </a:p>
          <a:p>
            <a:pPr eaLnBrk="1" hangingPunct="1">
              <a:buFont typeface="Wingdings 3" pitchFamily="18" charset="2"/>
              <a:buNone/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0F8EF-E6A5-4E76-9ED8-9F88AB74053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981200"/>
            <a:ext cx="74676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2667000" y="533401"/>
            <a:ext cx="26308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Gill Sans MT"/>
              </a:rPr>
              <a:t>Sample Program</a:t>
            </a:r>
            <a:endParaRPr lang="en-US" sz="2400" b="1" dirty="0">
              <a:latin typeface="Times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634536-EBE2-4660-A655-C172BA83E4D0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0"/>
            <a:ext cx="8229600" cy="478536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 dirty="0"/>
              <a:t>Computer Architecture refers to those attributes of a system visible to a programmer </a:t>
            </a:r>
          </a:p>
          <a:p>
            <a:pPr lvl="1" algn="just"/>
            <a:r>
              <a:rPr lang="en-US" sz="2100" dirty="0"/>
              <a:t>Those attributes that have direct impact on logical execution of a program.</a:t>
            </a:r>
          </a:p>
          <a:p>
            <a:pPr algn="just"/>
            <a:r>
              <a:rPr lang="en-US" sz="2400" b="1" dirty="0"/>
              <a:t>Architectural attributes include</a:t>
            </a:r>
            <a:r>
              <a:rPr lang="en-US" sz="2400" dirty="0"/>
              <a:t>:  </a:t>
            </a:r>
          </a:p>
          <a:p>
            <a:pPr lvl="1" algn="just"/>
            <a:r>
              <a:rPr lang="en-US" sz="2100" dirty="0"/>
              <a:t>the </a:t>
            </a:r>
            <a:r>
              <a:rPr lang="en-US" sz="2100" u="sng" dirty="0"/>
              <a:t>instruction set</a:t>
            </a:r>
            <a:r>
              <a:rPr lang="en-US" sz="2100" dirty="0"/>
              <a:t>, </a:t>
            </a:r>
          </a:p>
          <a:p>
            <a:pPr lvl="1" algn="just"/>
            <a:r>
              <a:rPr lang="en-US" sz="2100" dirty="0"/>
              <a:t>no. of bits used to represent various </a:t>
            </a:r>
            <a:r>
              <a:rPr lang="en-US" sz="2100" u="sng" dirty="0"/>
              <a:t>data types</a:t>
            </a:r>
            <a:r>
              <a:rPr lang="en-US" sz="2100" dirty="0"/>
              <a:t> (numbers, characters etc), </a:t>
            </a:r>
          </a:p>
          <a:p>
            <a:pPr lvl="1" algn="just"/>
            <a:r>
              <a:rPr lang="en-US" sz="2100" dirty="0"/>
              <a:t>I/O mechanisms and technology for </a:t>
            </a:r>
            <a:r>
              <a:rPr lang="en-US" sz="2100" u="sng" dirty="0"/>
              <a:t>addressing memory</a:t>
            </a:r>
            <a:r>
              <a:rPr lang="en-US" sz="2100" dirty="0"/>
              <a:t>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Example</a:t>
            </a:r>
            <a:r>
              <a:rPr lang="en-US" sz="2400" dirty="0"/>
              <a:t>: Architectural design issue whether a computer will have multiply instruction or not.   </a:t>
            </a:r>
          </a:p>
          <a:p>
            <a:pPr algn="just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41</TotalTime>
  <Words>705</Words>
  <Application>Microsoft Office PowerPoint</Application>
  <PresentationFormat>Widescreen</PresentationFormat>
  <Paragraphs>150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Calibri</vt:lpstr>
      <vt:lpstr>Century Gothic</vt:lpstr>
      <vt:lpstr>Courier New</vt:lpstr>
      <vt:lpstr>Georgia</vt:lpstr>
      <vt:lpstr>Gill Sans MT</vt:lpstr>
      <vt:lpstr>Times</vt:lpstr>
      <vt:lpstr>Times New Roman</vt:lpstr>
      <vt:lpstr>Wingdings 3</vt:lpstr>
      <vt:lpstr>Wisp</vt:lpstr>
      <vt:lpstr>Computer Organization &amp; Assembly Language</vt:lpstr>
      <vt:lpstr>Outline</vt:lpstr>
      <vt:lpstr>Course Objectives</vt:lpstr>
      <vt:lpstr>Structure</vt:lpstr>
      <vt:lpstr>Difference in Peripherals &amp; Communication Lines </vt:lpstr>
      <vt:lpstr>Structure - Top Level</vt:lpstr>
      <vt:lpstr>Structure – Top Level Contd..</vt:lpstr>
      <vt:lpstr>Structure - The CPU</vt:lpstr>
      <vt:lpstr>What is a Bus?</vt:lpstr>
      <vt:lpstr>Data Bus</vt:lpstr>
      <vt:lpstr>Address bus</vt:lpstr>
      <vt:lpstr>Control Bus</vt:lpstr>
      <vt:lpstr>Programming Languages</vt:lpstr>
      <vt:lpstr>High-Level Language</vt:lpstr>
      <vt:lpstr>Machine Language</vt:lpstr>
      <vt:lpstr>Assembly Language</vt:lpstr>
      <vt:lpstr>PowerPoint Presentation</vt:lpstr>
      <vt:lpstr>Computer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Ihtisham ul haq</cp:lastModifiedBy>
  <cp:revision>2</cp:revision>
  <dcterms:created xsi:type="dcterms:W3CDTF">2023-10-17T17:30:28Z</dcterms:created>
  <dcterms:modified xsi:type="dcterms:W3CDTF">2023-10-18T06:47:13Z</dcterms:modified>
</cp:coreProperties>
</file>