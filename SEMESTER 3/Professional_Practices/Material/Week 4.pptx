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handoutMasterIdLst>
    <p:handoutMasterId r:id="rId22"/>
  </p:handoutMasterIdLst>
  <p:sldIdLst>
    <p:sldId id="256" r:id="rId2"/>
    <p:sldId id="257" r:id="rId3"/>
    <p:sldId id="258" r:id="rId4"/>
    <p:sldId id="280" r:id="rId5"/>
    <p:sldId id="281" r:id="rId6"/>
    <p:sldId id="282" r:id="rId7"/>
    <p:sldId id="259" r:id="rId8"/>
    <p:sldId id="260" r:id="rId9"/>
    <p:sldId id="261" r:id="rId10"/>
    <p:sldId id="262" r:id="rId11"/>
    <p:sldId id="263" r:id="rId12"/>
    <p:sldId id="277" r:id="rId13"/>
    <p:sldId id="278" r:id="rId14"/>
    <p:sldId id="279" r:id="rId15"/>
    <p:sldId id="269" r:id="rId16"/>
    <p:sldId id="270" r:id="rId17"/>
    <p:sldId id="271" r:id="rId18"/>
    <p:sldId id="272" r:id="rId19"/>
    <p:sldId id="273" r:id="rId20"/>
  </p:sldIdLst>
  <p:sldSz cx="12192000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AD7826-87B8-4410-A47B-2A8C06BE2C02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791B74-315C-4831-967F-BDDCDE0304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5643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BD1598-1128-40F1-A510-796C03127909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32FB09-D463-4E13-B635-B8731EE025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57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14CFF90-A583-4361-A30E-46723DE3FC2E}" type="slidenum">
              <a:rPr lang="en-US" altLang="en-US"/>
              <a:pPr eaLnBrk="1" hangingPunct="1"/>
              <a:t>8</a:t>
            </a:fld>
            <a:endParaRPr lang="en-US" altLang="en-US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97484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4C96352-0ACC-4E7D-8311-84C01C9442E0}" type="slidenum">
              <a:rPr lang="en-US" altLang="en-US"/>
              <a:pPr eaLnBrk="1" hangingPunct="1"/>
              <a:t>9</a:t>
            </a:fld>
            <a:endParaRPr lang="en-US" altLang="en-US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70601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2F1D1529-CED0-4D3F-B612-904BA18839DF}" type="slidenum">
              <a:rPr lang="en-US" altLang="en-US"/>
              <a:pPr eaLnBrk="1" hangingPunct="1"/>
              <a:t>10</a:t>
            </a:fld>
            <a:endParaRPr lang="en-US" alt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4395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4D8788F-48AA-49B8-A9C8-BCA0CD3AC12F}" type="slidenum">
              <a:rPr lang="en-US" altLang="en-US"/>
              <a:pPr eaLnBrk="1" hangingPunct="1"/>
              <a:t>11</a:t>
            </a:fld>
            <a:endParaRPr lang="en-US" altLang="en-US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87170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99DA862-1AF9-40A7-A51D-B08905F93C5C}" type="slidenum">
              <a:rPr lang="en-US" altLang="en-US"/>
              <a:pPr eaLnBrk="1" hangingPunct="1"/>
              <a:t>15</a:t>
            </a:fld>
            <a:endParaRPr lang="en-US" altLang="en-US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78297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96BECBB-566E-4826-8A00-9924589A33AC}" type="slidenum">
              <a:rPr lang="en-US" altLang="en-US"/>
              <a:pPr eaLnBrk="1" hangingPunct="1"/>
              <a:t>16</a:t>
            </a:fld>
            <a:endParaRPr lang="en-US" altLang="en-US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71691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7B97636-13E7-42EE-9BD9-73219819B900}" type="slidenum">
              <a:rPr lang="en-US" altLang="en-US"/>
              <a:pPr eaLnBrk="1" hangingPunct="1"/>
              <a:t>17</a:t>
            </a:fld>
            <a:endParaRPr lang="en-US" altLang="en-US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7592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7580F95-E6A4-41A0-9580-B50068E9DDBD}" type="slidenum">
              <a:rPr lang="en-US" altLang="en-US"/>
              <a:pPr eaLnBrk="1" hangingPunct="1"/>
              <a:t>18</a:t>
            </a:fld>
            <a:endParaRPr lang="en-US" altLang="en-US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14151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 u="sng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590BD80-3F96-441A-8329-7E3ECED30BEB}" type="slidenum">
              <a:rPr lang="en-US" altLang="en-US"/>
              <a:pPr eaLnBrk="1" hangingPunct="1"/>
              <a:t>19</a:t>
            </a:fld>
            <a:endParaRPr lang="en-US" altLang="en-US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5702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C1557429-77C1-49BF-9384-8172A78B9626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56569-212D-4F7C-9E6D-A59209B9DE72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034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7429-77C1-49BF-9384-8172A78B9626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56569-212D-4F7C-9E6D-A59209B9D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954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7429-77C1-49BF-9384-8172A78B9626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56569-212D-4F7C-9E6D-A59209B9DE72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2498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7429-77C1-49BF-9384-8172A78B9626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56569-212D-4F7C-9E6D-A59209B9D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069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7429-77C1-49BF-9384-8172A78B9626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56569-212D-4F7C-9E6D-A59209B9D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916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7429-77C1-49BF-9384-8172A78B9626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56569-212D-4F7C-9E6D-A59209B9D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352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7429-77C1-49BF-9384-8172A78B9626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56569-212D-4F7C-9E6D-A59209B9D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357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7429-77C1-49BF-9384-8172A78B9626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56569-212D-4F7C-9E6D-A59209B9D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4683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7429-77C1-49BF-9384-8172A78B9626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56569-212D-4F7C-9E6D-A59209B9DE72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9181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7429-77C1-49BF-9384-8172A78B9626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56569-212D-4F7C-9E6D-A59209B9DE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549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57429-77C1-49BF-9384-8172A78B9626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56569-212D-4F7C-9E6D-A59209B9DE72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5185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557429-77C1-49BF-9384-8172A78B9626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6B56569-212D-4F7C-9E6D-A59209B9DE72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0750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cm.org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1074" y="4698880"/>
            <a:ext cx="7772400" cy="1463040"/>
          </a:xfrm>
        </p:spPr>
        <p:txBody>
          <a:bodyPr>
            <a:normAutofit/>
          </a:bodyPr>
          <a:lstStyle/>
          <a:p>
            <a:r>
              <a:rPr lang="en-US" sz="3600" dirty="0"/>
              <a:t>ACM Codes of Ethics &amp; professional conduct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49040" y="6048104"/>
            <a:ext cx="5129347" cy="47679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hlinkClick r:id="rId2"/>
              </a:rPr>
              <a:t>Association for Computing Machinery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878387" y="5133703"/>
            <a:ext cx="27475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Book: </a:t>
            </a:r>
            <a:r>
              <a:rPr lang="en-US" dirty="0"/>
              <a:t>Ethics in Information Technology</a:t>
            </a:r>
          </a:p>
          <a:p>
            <a:r>
              <a:rPr lang="en-US" dirty="0"/>
              <a:t>Appendix B</a:t>
            </a:r>
          </a:p>
        </p:txBody>
      </p:sp>
    </p:spTree>
    <p:extLst>
      <p:ext uri="{BB962C8B-B14F-4D97-AF65-F5344CB8AC3E}">
        <p14:creationId xmlns:p14="http://schemas.microsoft.com/office/powerpoint/2010/main" val="786073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E" altLang="en-US"/>
              <a:t>Why should we have a Professional Code of Ethics?</a:t>
            </a:r>
            <a:endParaRPr lang="en-US" alt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IE" altLang="en-US" dirty="0">
                <a:latin typeface="Calibri" panose="020F0502020204030204" pitchFamily="34" charset="0"/>
              </a:rPr>
              <a:t>A Professional Code of Ethics serves several functions:</a:t>
            </a:r>
          </a:p>
          <a:p>
            <a:endParaRPr lang="en-IE" altLang="en-US" dirty="0">
              <a:latin typeface="Calibri" panose="020F0502020204030204" pitchFamily="34" charset="0"/>
            </a:endParaRPr>
          </a:p>
          <a:p>
            <a:pPr lvl="1"/>
            <a:r>
              <a:rPr lang="en-IE" altLang="en-US" dirty="0">
                <a:latin typeface="Calibri" panose="020F0502020204030204" pitchFamily="34" charset="0"/>
              </a:rPr>
              <a:t>Symbolises the professionalism of the group.</a:t>
            </a:r>
          </a:p>
          <a:p>
            <a:pPr lvl="1"/>
            <a:r>
              <a:rPr lang="en-IE" altLang="en-US" dirty="0">
                <a:latin typeface="Calibri" panose="020F0502020204030204" pitchFamily="34" charset="0"/>
              </a:rPr>
              <a:t>Defines and promotes a standard for external relations with clients and employers.</a:t>
            </a:r>
          </a:p>
          <a:p>
            <a:pPr lvl="1"/>
            <a:r>
              <a:rPr lang="en-IE" altLang="en-US" dirty="0">
                <a:latin typeface="Calibri" panose="020F0502020204030204" pitchFamily="34" charset="0"/>
              </a:rPr>
              <a:t>Protects the group’s interests.</a:t>
            </a:r>
          </a:p>
          <a:p>
            <a:pPr lvl="1"/>
            <a:r>
              <a:rPr lang="en-IE" altLang="en-US" dirty="0">
                <a:latin typeface="Calibri" panose="020F0502020204030204" pitchFamily="34" charset="0"/>
              </a:rPr>
              <a:t>States responsibilities </a:t>
            </a:r>
          </a:p>
          <a:p>
            <a:pPr lvl="1"/>
            <a:r>
              <a:rPr lang="en-IE" altLang="en-US" dirty="0">
                <a:latin typeface="Calibri" panose="020F0502020204030204" pitchFamily="34" charset="0"/>
              </a:rPr>
              <a:t>Codifies members’ rights.</a:t>
            </a:r>
          </a:p>
          <a:p>
            <a:pPr lvl="1"/>
            <a:r>
              <a:rPr lang="en-IE" altLang="en-US" dirty="0">
                <a:latin typeface="Calibri" panose="020F0502020204030204" pitchFamily="34" charset="0"/>
              </a:rPr>
              <a:t>Offers guidelines in “grey areas”.</a:t>
            </a:r>
            <a:endParaRPr lang="en-US" altLang="en-US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2390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E" altLang="en-US"/>
              <a:t>Why have a Professional Code of Ethics in Computing?</a:t>
            </a:r>
            <a:endParaRPr lang="en-US" alt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IE" altLang="en-US" dirty="0">
                <a:latin typeface="Calibri" panose="020F0502020204030204" pitchFamily="34" charset="0"/>
              </a:rPr>
              <a:t>Software has the potential to do good or cause harm, or to enable or influence others to do good or cause harm.</a:t>
            </a:r>
          </a:p>
          <a:p>
            <a:r>
              <a:rPr lang="en-IE" altLang="en-US" dirty="0">
                <a:latin typeface="Calibri" panose="020F0502020204030204" pitchFamily="34" charset="0"/>
              </a:rPr>
              <a:t>We have pride in our work and want the work that we do to be given recognition and respect.</a:t>
            </a:r>
          </a:p>
        </p:txBody>
      </p:sp>
    </p:spTree>
    <p:extLst>
      <p:ext uri="{BB962C8B-B14F-4D97-AF65-F5344CB8AC3E}">
        <p14:creationId xmlns:p14="http://schemas.microsoft.com/office/powerpoint/2010/main" val="2712365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"Professional Ethics"?</a:t>
            </a:r>
          </a:p>
        </p:txBody>
      </p:sp>
      <p:sp>
        <p:nvSpPr>
          <p:cNvPr id="41989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/>
              <a:t>Professional ethics includes relationships with and responsibilities toward customers, clients, coworkers, employees, employers, others who use one’s products and services, and others whom they affect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A professional has a responsibility to act ethically. Many professions have a code of ethics that professionals are expected to abide by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Medical doctors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Lawyers and judges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Accountants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Computer professional</a:t>
            </a:r>
          </a:p>
        </p:txBody>
      </p:sp>
    </p:spTree>
    <p:extLst>
      <p:ext uri="{BB962C8B-B14F-4D97-AF65-F5344CB8AC3E}">
        <p14:creationId xmlns:p14="http://schemas.microsoft.com/office/powerpoint/2010/main" val="1774999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8" name="Rectangle 10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Ethical Guidelines for Computer Professionals</a:t>
            </a:r>
          </a:p>
        </p:txBody>
      </p:sp>
      <p:sp>
        <p:nvSpPr>
          <p:cNvPr id="43019" name="Rectangle 1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2800"/>
              <a:t>Guidelines and Professional Responsibilities:</a:t>
            </a:r>
          </a:p>
          <a:p>
            <a:pPr>
              <a:lnSpc>
                <a:spcPct val="80000"/>
              </a:lnSpc>
            </a:pPr>
            <a:r>
              <a:rPr lang="en-US" sz="2800"/>
              <a:t>Understand what success means</a:t>
            </a:r>
          </a:p>
          <a:p>
            <a:pPr>
              <a:lnSpc>
                <a:spcPct val="80000"/>
              </a:lnSpc>
            </a:pPr>
            <a:r>
              <a:rPr lang="en-US" sz="2800"/>
              <a:t>Include users (such as medical staff, technicians, pilots, office workers) in the design and testing stages to provide safe and useful systems</a:t>
            </a:r>
          </a:p>
          <a:p>
            <a:pPr>
              <a:lnSpc>
                <a:spcPct val="80000"/>
              </a:lnSpc>
            </a:pPr>
            <a:r>
              <a:rPr lang="en-US" sz="2800"/>
              <a:t>Do a thorough, careful job when planning and scheduling a project and when writing bids or contracts</a:t>
            </a:r>
          </a:p>
          <a:p>
            <a:pPr>
              <a:lnSpc>
                <a:spcPct val="80000"/>
              </a:lnSpc>
            </a:pPr>
            <a:r>
              <a:rPr lang="en-US" sz="2800"/>
              <a:t>Design for real users</a:t>
            </a:r>
          </a:p>
        </p:txBody>
      </p:sp>
    </p:spTree>
    <p:extLst>
      <p:ext uri="{BB962C8B-B14F-4D97-AF65-F5344CB8AC3E}">
        <p14:creationId xmlns:p14="http://schemas.microsoft.com/office/powerpoint/2010/main" val="31797118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Ethical Guidelines for Computer . . . (cont.)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800"/>
              <a:t>Guidelines and Professional Responsibilities (cont.):</a:t>
            </a:r>
          </a:p>
          <a:p>
            <a:pPr>
              <a:lnSpc>
                <a:spcPct val="90000"/>
              </a:lnSpc>
            </a:pPr>
            <a:r>
              <a:rPr lang="en-US" sz="2800"/>
              <a:t>Don’t assume existing software is safe or correct; review and test it</a:t>
            </a:r>
          </a:p>
          <a:p>
            <a:pPr>
              <a:lnSpc>
                <a:spcPct val="90000"/>
              </a:lnSpc>
            </a:pPr>
            <a:r>
              <a:rPr lang="en-US" sz="2800"/>
              <a:t>Be open and honest about capabilities, safety, and limitations of software</a:t>
            </a:r>
          </a:p>
          <a:p>
            <a:pPr>
              <a:lnSpc>
                <a:spcPct val="90000"/>
              </a:lnSpc>
            </a:pPr>
            <a:r>
              <a:rPr lang="en-US" sz="2800"/>
              <a:t>Require a convincing case for safety</a:t>
            </a:r>
          </a:p>
          <a:p>
            <a:pPr>
              <a:lnSpc>
                <a:spcPct val="90000"/>
              </a:lnSpc>
            </a:pPr>
            <a:r>
              <a:rPr lang="en-US" sz="2800"/>
              <a:t>Pay attention to defaults</a:t>
            </a:r>
          </a:p>
          <a:p>
            <a:pPr>
              <a:lnSpc>
                <a:spcPct val="90000"/>
              </a:lnSpc>
            </a:pPr>
            <a:r>
              <a:rPr lang="en-US" sz="2800"/>
              <a:t>Develop communication skills</a:t>
            </a:r>
          </a:p>
        </p:txBody>
      </p:sp>
    </p:spTree>
    <p:extLst>
      <p:ext uri="{BB962C8B-B14F-4D97-AF65-F5344CB8AC3E}">
        <p14:creationId xmlns:p14="http://schemas.microsoft.com/office/powerpoint/2010/main" val="1373451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>
          <a:xfrm>
            <a:off x="809443" y="298969"/>
            <a:ext cx="9720072" cy="1499616"/>
          </a:xfrm>
        </p:spPr>
        <p:txBody>
          <a:bodyPr/>
          <a:lstStyle/>
          <a:p>
            <a:pPr eaLnBrk="1" hangingPunct="1"/>
            <a:r>
              <a:rPr lang="en-US" altLang="en-US" dirty="0"/>
              <a:t>ACM Code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idx="1"/>
          </p:nvPr>
        </p:nvSpPr>
        <p:spPr>
          <a:xfrm>
            <a:off x="316462" y="1705554"/>
            <a:ext cx="9720073" cy="4023360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Calibri" panose="020F0502020204030204" pitchFamily="34" charset="0"/>
              </a:rPr>
              <a:t>24 statements of personal responsibility, including:</a:t>
            </a:r>
          </a:p>
          <a:p>
            <a:pPr lvl="1" eaLnBrk="1" hangingPunct="1"/>
            <a:r>
              <a:rPr lang="en-US" altLang="en-US" dirty="0">
                <a:latin typeface="Calibri" panose="020F0502020204030204" pitchFamily="34" charset="0"/>
              </a:rPr>
              <a:t>General moral imperatives	            8</a:t>
            </a:r>
          </a:p>
          <a:p>
            <a:pPr lvl="1" eaLnBrk="1" hangingPunct="1"/>
            <a:r>
              <a:rPr lang="en-US" altLang="en-US" dirty="0">
                <a:latin typeface="Calibri" panose="020F0502020204030204" pitchFamily="34" charset="0"/>
              </a:rPr>
              <a:t>Professional responsibilities          8</a:t>
            </a:r>
          </a:p>
          <a:p>
            <a:pPr lvl="1" eaLnBrk="1" hangingPunct="1"/>
            <a:r>
              <a:rPr lang="en-US" altLang="en-US" dirty="0">
                <a:latin typeface="Calibri" panose="020F0502020204030204" pitchFamily="34" charset="0"/>
              </a:rPr>
              <a:t>Organizational leadership imperatives               6</a:t>
            </a:r>
          </a:p>
          <a:p>
            <a:pPr lvl="1" eaLnBrk="1" hangingPunct="1"/>
            <a:r>
              <a:rPr lang="en-US" altLang="en-US" dirty="0">
                <a:latin typeface="Calibri" panose="020F0502020204030204" pitchFamily="34" charset="0"/>
              </a:rPr>
              <a:t>Compliance with the Code                2</a:t>
            </a:r>
          </a:p>
          <a:p>
            <a:pPr lvl="1"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67593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ACM Code of Ethics (1)</a:t>
            </a:r>
          </a:p>
        </p:txBody>
      </p:sp>
      <p:sp>
        <p:nvSpPr>
          <p:cNvPr id="113667" name="Rectangle 3"/>
          <p:cNvSpPr>
            <a:spLocks noGrp="1" noChangeArrowheads="1"/>
          </p:cNvSpPr>
          <p:nvPr>
            <p:ph idx="1"/>
          </p:nvPr>
        </p:nvSpPr>
        <p:spPr>
          <a:xfrm>
            <a:off x="841248" y="1907178"/>
            <a:ext cx="9720073" cy="4023360"/>
          </a:xfrm>
        </p:spPr>
        <p:txBody>
          <a:bodyPr>
            <a:noAutofit/>
          </a:bodyPr>
          <a:lstStyle/>
          <a:p>
            <a:pPr marL="533400" indent="-533400"/>
            <a:r>
              <a:rPr lang="en-US" altLang="en-US" sz="2800" dirty="0"/>
              <a:t>General moral imperatives: “As an ACM (Association of </a:t>
            </a:r>
            <a:r>
              <a:rPr lang="en-US" altLang="en-US" sz="2800"/>
              <a:t>Computing Machinery</a:t>
            </a:r>
            <a:r>
              <a:rPr lang="en-US" altLang="en-US" sz="2800" dirty="0"/>
              <a:t>) member I will…”</a:t>
            </a:r>
          </a:p>
          <a:p>
            <a:pPr marL="914400" lvl="1" indent="-457200">
              <a:buFontTx/>
              <a:buAutoNum type="arabicPeriod"/>
            </a:pPr>
            <a:endParaRPr lang="en-US" altLang="en-US" sz="2400" dirty="0">
              <a:latin typeface="FranklinGothicH" pitchFamily="34" charset="0"/>
            </a:endParaRPr>
          </a:p>
          <a:p>
            <a:pPr marL="914400" lvl="1" indent="-457200">
              <a:buFontTx/>
              <a:buAutoNum type="arabicPeriod"/>
            </a:pPr>
            <a:r>
              <a:rPr lang="en-US" altLang="en-US" sz="2400" dirty="0">
                <a:latin typeface="Calibri" panose="020F0502020204030204" pitchFamily="34" charset="0"/>
              </a:rPr>
              <a:t>Contribute to society and human well-being.</a:t>
            </a:r>
          </a:p>
          <a:p>
            <a:pPr marL="914400" lvl="1" indent="-457200">
              <a:buFontTx/>
              <a:buAutoNum type="arabicPeriod"/>
            </a:pPr>
            <a:r>
              <a:rPr lang="en-US" altLang="en-US" sz="2400" dirty="0">
                <a:latin typeface="Calibri" panose="020F0502020204030204" pitchFamily="34" charset="0"/>
              </a:rPr>
              <a:t>Avoid harm to others.</a:t>
            </a:r>
          </a:p>
          <a:p>
            <a:pPr marL="914400" lvl="1" indent="-457200">
              <a:buFontTx/>
              <a:buAutoNum type="arabicPeriod"/>
            </a:pPr>
            <a:r>
              <a:rPr lang="en-US" altLang="en-US" sz="2400" dirty="0">
                <a:latin typeface="Calibri" panose="020F0502020204030204" pitchFamily="34" charset="0"/>
              </a:rPr>
              <a:t>Be honest and trustworthy.</a:t>
            </a:r>
          </a:p>
          <a:p>
            <a:pPr marL="914400" lvl="1" indent="-457200">
              <a:buFontTx/>
              <a:buAutoNum type="arabicPeriod"/>
            </a:pPr>
            <a:r>
              <a:rPr lang="en-US" altLang="en-US" sz="2400" dirty="0">
                <a:latin typeface="Calibri" panose="020F0502020204030204" pitchFamily="34" charset="0"/>
              </a:rPr>
              <a:t>Be fair and take action not to discriminate.</a:t>
            </a:r>
          </a:p>
          <a:p>
            <a:pPr marL="914400" lvl="1" indent="-457200">
              <a:buFontTx/>
              <a:buAutoNum type="arabicPeriod"/>
            </a:pPr>
            <a:r>
              <a:rPr lang="en-US" altLang="en-US" sz="2400" dirty="0">
                <a:latin typeface="Calibri" panose="020F0502020204030204" pitchFamily="34" charset="0"/>
              </a:rPr>
              <a:t>Honor property rights including copyrights and patents.</a:t>
            </a:r>
          </a:p>
          <a:p>
            <a:pPr marL="914400" lvl="1" indent="-457200">
              <a:buFontTx/>
              <a:buAutoNum type="arabicPeriod"/>
            </a:pPr>
            <a:r>
              <a:rPr lang="en-US" altLang="en-US" sz="2400" dirty="0">
                <a:latin typeface="Calibri" panose="020F0502020204030204" pitchFamily="34" charset="0"/>
              </a:rPr>
              <a:t>Give proper credit for intellectual property.</a:t>
            </a:r>
          </a:p>
          <a:p>
            <a:pPr marL="914400" lvl="1" indent="-457200">
              <a:buFontTx/>
              <a:buAutoNum type="arabicPeriod"/>
            </a:pPr>
            <a:r>
              <a:rPr lang="en-US" altLang="en-US" sz="2400" dirty="0">
                <a:latin typeface="Calibri" panose="020F0502020204030204" pitchFamily="34" charset="0"/>
              </a:rPr>
              <a:t>Respect the privacy of others.</a:t>
            </a:r>
          </a:p>
          <a:p>
            <a:pPr marL="914400" lvl="1" indent="-457200">
              <a:buFontTx/>
              <a:buAutoNum type="arabicPeriod"/>
            </a:pPr>
            <a:r>
              <a:rPr lang="en-US" altLang="en-US" sz="2400" dirty="0">
                <a:latin typeface="Calibri" panose="020F0502020204030204" pitchFamily="34" charset="0"/>
              </a:rPr>
              <a:t>Honor confidentiality.</a:t>
            </a:r>
          </a:p>
        </p:txBody>
      </p:sp>
    </p:spTree>
    <p:extLst>
      <p:ext uri="{BB962C8B-B14F-4D97-AF65-F5344CB8AC3E}">
        <p14:creationId xmlns:p14="http://schemas.microsoft.com/office/powerpoint/2010/main" val="3621510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ACM Code of Ethics (2)</a:t>
            </a:r>
          </a:p>
        </p:txBody>
      </p:sp>
      <p:sp>
        <p:nvSpPr>
          <p:cNvPr id="114691" name="Rectangle 3"/>
          <p:cNvSpPr>
            <a:spLocks noGrp="1" noChangeArrowheads="1"/>
          </p:cNvSpPr>
          <p:nvPr>
            <p:ph idx="1"/>
          </p:nvPr>
        </p:nvSpPr>
        <p:spPr>
          <a:xfrm>
            <a:off x="1024127" y="2084832"/>
            <a:ext cx="9720073" cy="4023360"/>
          </a:xfrm>
        </p:spPr>
        <p:txBody>
          <a:bodyPr>
            <a:noAutofit/>
          </a:bodyPr>
          <a:lstStyle/>
          <a:p>
            <a:pPr marL="457200" indent="-457200">
              <a:lnSpc>
                <a:spcPct val="80000"/>
              </a:lnSpc>
            </a:pPr>
            <a:r>
              <a:rPr lang="en-US" altLang="en-US" sz="2400" dirty="0">
                <a:latin typeface="Calibri" panose="020F0502020204030204" pitchFamily="34" charset="0"/>
              </a:rPr>
              <a:t>Specific professional responsibilities: “As an ACM computing professional I will”:</a:t>
            </a:r>
          </a:p>
          <a:p>
            <a:pPr marL="838200" lvl="1" indent="-381000">
              <a:lnSpc>
                <a:spcPct val="80000"/>
              </a:lnSpc>
              <a:buFontTx/>
              <a:buAutoNum type="arabicPeriod"/>
            </a:pPr>
            <a:r>
              <a:rPr lang="en-US" altLang="en-US" sz="2200" dirty="0">
                <a:latin typeface="Calibri" panose="020F0502020204030204" pitchFamily="34" charset="0"/>
              </a:rPr>
              <a:t>Strive to achieve the highest quality, effectiveness and dignity in both the process and products of professional work.</a:t>
            </a:r>
          </a:p>
          <a:p>
            <a:pPr marL="838200" lvl="1" indent="-381000">
              <a:lnSpc>
                <a:spcPct val="80000"/>
              </a:lnSpc>
              <a:buFontTx/>
              <a:buAutoNum type="arabicPeriod"/>
            </a:pPr>
            <a:r>
              <a:rPr lang="en-US" altLang="en-US" sz="2200" dirty="0">
                <a:latin typeface="Calibri" panose="020F0502020204030204" pitchFamily="34" charset="0"/>
              </a:rPr>
              <a:t>Acquire and maintain professional competence.</a:t>
            </a:r>
          </a:p>
          <a:p>
            <a:pPr marL="838200" lvl="1" indent="-381000">
              <a:lnSpc>
                <a:spcPct val="80000"/>
              </a:lnSpc>
              <a:buFontTx/>
              <a:buAutoNum type="arabicPeriod"/>
            </a:pPr>
            <a:r>
              <a:rPr lang="en-US" altLang="en-US" sz="2200" dirty="0">
                <a:latin typeface="Calibri" panose="020F0502020204030204" pitchFamily="34" charset="0"/>
              </a:rPr>
              <a:t>Know and respect existing laws pertaining to professional work.</a:t>
            </a:r>
          </a:p>
          <a:p>
            <a:pPr marL="838200" lvl="1" indent="-381000">
              <a:lnSpc>
                <a:spcPct val="80000"/>
              </a:lnSpc>
              <a:buFontTx/>
              <a:buAutoNum type="arabicPeriod"/>
            </a:pPr>
            <a:r>
              <a:rPr lang="en-US" altLang="en-US" sz="2200" dirty="0">
                <a:latin typeface="Calibri" panose="020F0502020204030204" pitchFamily="34" charset="0"/>
              </a:rPr>
              <a:t>Accept and provide appropriate professional review.</a:t>
            </a:r>
          </a:p>
          <a:p>
            <a:pPr marL="838200" lvl="1" indent="-381000">
              <a:lnSpc>
                <a:spcPct val="80000"/>
              </a:lnSpc>
              <a:buFontTx/>
              <a:buAutoNum type="arabicPeriod"/>
            </a:pPr>
            <a:r>
              <a:rPr lang="en-US" altLang="en-US" sz="2200" dirty="0">
                <a:latin typeface="Calibri" panose="020F0502020204030204" pitchFamily="34" charset="0"/>
              </a:rPr>
              <a:t>Give comprehensive and thorough evaluations of computer system and their impacts, including analysis of possible risks.</a:t>
            </a:r>
          </a:p>
          <a:p>
            <a:pPr marL="838200" lvl="1" indent="-381000">
              <a:lnSpc>
                <a:spcPct val="80000"/>
              </a:lnSpc>
              <a:buFontTx/>
              <a:buAutoNum type="arabicPeriod"/>
            </a:pPr>
            <a:r>
              <a:rPr lang="en-US" altLang="en-US" sz="2200" dirty="0">
                <a:latin typeface="Calibri" panose="020F0502020204030204" pitchFamily="34" charset="0"/>
              </a:rPr>
              <a:t>Honor contracts, agreements, and assigned responsibilities.</a:t>
            </a:r>
          </a:p>
          <a:p>
            <a:pPr marL="838200" lvl="1" indent="-381000">
              <a:lnSpc>
                <a:spcPct val="80000"/>
              </a:lnSpc>
              <a:buFontTx/>
              <a:buAutoNum type="arabicPeriod"/>
            </a:pPr>
            <a:r>
              <a:rPr lang="en-US" altLang="en-US" sz="2200" dirty="0">
                <a:latin typeface="Calibri" panose="020F0502020204030204" pitchFamily="34" charset="0"/>
              </a:rPr>
              <a:t>Improve public understanding of computing and its consequences.</a:t>
            </a:r>
          </a:p>
          <a:p>
            <a:pPr marL="838200" lvl="1" indent="-381000">
              <a:lnSpc>
                <a:spcPct val="80000"/>
              </a:lnSpc>
              <a:buFontTx/>
              <a:buAutoNum type="arabicPeriod"/>
            </a:pPr>
            <a:r>
              <a:rPr lang="en-US" altLang="en-US" sz="2200" dirty="0">
                <a:latin typeface="Calibri" panose="020F0502020204030204" pitchFamily="34" charset="0"/>
              </a:rPr>
              <a:t>Access computing and communication resources only when authorized to do so.</a:t>
            </a:r>
          </a:p>
        </p:txBody>
      </p:sp>
    </p:spTree>
    <p:extLst>
      <p:ext uri="{BB962C8B-B14F-4D97-AF65-F5344CB8AC3E}">
        <p14:creationId xmlns:p14="http://schemas.microsoft.com/office/powerpoint/2010/main" val="3003939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998002" y="41801"/>
            <a:ext cx="9720072" cy="1499616"/>
          </a:xfrm>
        </p:spPr>
        <p:txBody>
          <a:bodyPr/>
          <a:lstStyle/>
          <a:p>
            <a:pPr eaLnBrk="1" hangingPunct="1"/>
            <a:r>
              <a:rPr lang="en-US" altLang="en-US" dirty="0"/>
              <a:t>ACM Code of Ethics (3)</a:t>
            </a:r>
          </a:p>
        </p:txBody>
      </p:sp>
      <p:sp>
        <p:nvSpPr>
          <p:cNvPr id="115715" name="Rectangle 3"/>
          <p:cNvSpPr>
            <a:spLocks noGrp="1" noChangeArrowheads="1"/>
          </p:cNvSpPr>
          <p:nvPr>
            <p:ph idx="1"/>
          </p:nvPr>
        </p:nvSpPr>
        <p:spPr>
          <a:xfrm>
            <a:off x="815123" y="1541417"/>
            <a:ext cx="9720073" cy="4023360"/>
          </a:xfrm>
        </p:spPr>
        <p:txBody>
          <a:bodyPr>
            <a:noAutofit/>
          </a:bodyPr>
          <a:lstStyle/>
          <a:p>
            <a:pPr marL="457200" indent="-457200">
              <a:lnSpc>
                <a:spcPct val="80000"/>
              </a:lnSpc>
            </a:pPr>
            <a:r>
              <a:rPr lang="en-US" altLang="en-US" sz="2800" dirty="0">
                <a:latin typeface="Calibri" panose="020F0502020204030204" pitchFamily="34" charset="0"/>
              </a:rPr>
              <a:t>Organization leadership imperatives: “As an ACM member and an organizational leader, I will:”</a:t>
            </a:r>
          </a:p>
          <a:p>
            <a:pPr marL="838200" lvl="1" indent="-381000">
              <a:lnSpc>
                <a:spcPct val="80000"/>
              </a:lnSpc>
              <a:buFontTx/>
              <a:buAutoNum type="arabicPeriod"/>
            </a:pPr>
            <a:r>
              <a:rPr lang="en-US" altLang="en-US" sz="2200" dirty="0">
                <a:latin typeface="Calibri" panose="020F0502020204030204" pitchFamily="34" charset="0"/>
              </a:rPr>
              <a:t>Articulate social responsibilities of members of an organizational unit and encourage full acceptance of those responsibilities.</a:t>
            </a:r>
          </a:p>
          <a:p>
            <a:pPr marL="838200" lvl="1" indent="-381000">
              <a:lnSpc>
                <a:spcPct val="80000"/>
              </a:lnSpc>
              <a:buFontTx/>
              <a:buAutoNum type="arabicPeriod"/>
            </a:pPr>
            <a:r>
              <a:rPr lang="en-US" altLang="en-US" sz="2200" dirty="0">
                <a:latin typeface="Calibri" panose="020F0502020204030204" pitchFamily="34" charset="0"/>
              </a:rPr>
              <a:t>Manage personnel and resources to design and build information systems that enhance the quality of working life.</a:t>
            </a:r>
          </a:p>
          <a:p>
            <a:pPr marL="838200" lvl="1" indent="-381000">
              <a:lnSpc>
                <a:spcPct val="80000"/>
              </a:lnSpc>
              <a:buFontTx/>
              <a:buAutoNum type="arabicPeriod"/>
            </a:pPr>
            <a:r>
              <a:rPr lang="en-US" altLang="en-US" sz="2200" dirty="0">
                <a:latin typeface="Calibri" panose="020F0502020204030204" pitchFamily="34" charset="0"/>
              </a:rPr>
              <a:t>Acknowledge and support proper and authorized uses of an organization’s computing and communication resources.</a:t>
            </a:r>
          </a:p>
          <a:p>
            <a:pPr marL="838200" lvl="1" indent="-381000">
              <a:lnSpc>
                <a:spcPct val="80000"/>
              </a:lnSpc>
              <a:buFontTx/>
              <a:buAutoNum type="arabicPeriod"/>
            </a:pPr>
            <a:r>
              <a:rPr lang="en-US" altLang="en-US" sz="2200" dirty="0">
                <a:latin typeface="Calibri" panose="020F0502020204030204" pitchFamily="34" charset="0"/>
              </a:rPr>
              <a:t>Ensure that users and those who will be affected by a design have their needs clearly articulated during the assessment and design of requirements; later the system must be validated to meet requirements.</a:t>
            </a:r>
          </a:p>
          <a:p>
            <a:pPr marL="838200" lvl="1" indent="-381000">
              <a:lnSpc>
                <a:spcPct val="80000"/>
              </a:lnSpc>
              <a:buFontTx/>
              <a:buAutoNum type="arabicPeriod"/>
            </a:pPr>
            <a:r>
              <a:rPr lang="en-US" altLang="en-US" sz="2200" dirty="0">
                <a:latin typeface="Calibri" panose="020F0502020204030204" pitchFamily="34" charset="0"/>
              </a:rPr>
              <a:t>Articulate and support policies that protect the dignity of users and others affected by a computing system.</a:t>
            </a:r>
          </a:p>
          <a:p>
            <a:pPr marL="838200" lvl="1" indent="-381000">
              <a:lnSpc>
                <a:spcPct val="80000"/>
              </a:lnSpc>
              <a:buFontTx/>
              <a:buAutoNum type="arabicPeriod"/>
            </a:pPr>
            <a:r>
              <a:rPr lang="en-US" altLang="en-US" sz="2200" dirty="0">
                <a:latin typeface="Calibri" panose="020F0502020204030204" pitchFamily="34" charset="0"/>
              </a:rPr>
              <a:t>Create opportunities for members of the organization to learn the principles and limitations of computer systems.</a:t>
            </a:r>
          </a:p>
        </p:txBody>
      </p:sp>
    </p:spTree>
    <p:extLst>
      <p:ext uri="{BB962C8B-B14F-4D97-AF65-F5344CB8AC3E}">
        <p14:creationId xmlns:p14="http://schemas.microsoft.com/office/powerpoint/2010/main" val="13631285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ACM Code of Ethics (4)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/>
            <a:r>
              <a:rPr lang="en-US" altLang="en-US" dirty="0">
                <a:latin typeface="Calibri" panose="020F0502020204030204" pitchFamily="34" charset="0"/>
              </a:rPr>
              <a:t>Compliance with the Code: “As an ACM member, I will:”</a:t>
            </a:r>
          </a:p>
          <a:p>
            <a:pPr marL="990600" lvl="1" indent="-533400">
              <a:buFontTx/>
              <a:buAutoNum type="arabicPeriod"/>
            </a:pPr>
            <a:r>
              <a:rPr lang="en-US" altLang="en-US" dirty="0">
                <a:latin typeface="Calibri" panose="020F0502020204030204" pitchFamily="34" charset="0"/>
              </a:rPr>
              <a:t>Uphold and promote the principles of this Code.</a:t>
            </a:r>
          </a:p>
          <a:p>
            <a:pPr marL="990600" lvl="1" indent="-533400">
              <a:buFontTx/>
              <a:buAutoNum type="arabicPeriod"/>
            </a:pPr>
            <a:r>
              <a:rPr lang="en-US" altLang="en-US" dirty="0">
                <a:latin typeface="Calibri" panose="020F0502020204030204" pitchFamily="34" charset="0"/>
              </a:rPr>
              <a:t>Treat violations of this code as inconsistent with membership in the ACM.</a:t>
            </a:r>
          </a:p>
        </p:txBody>
      </p:sp>
    </p:spTree>
    <p:extLst>
      <p:ext uri="{BB962C8B-B14F-4D97-AF65-F5344CB8AC3E}">
        <p14:creationId xmlns:p14="http://schemas.microsoft.com/office/powerpoint/2010/main" val="27833866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Scenarios</a:t>
            </a:r>
          </a:p>
        </p:txBody>
      </p:sp>
      <p:sp>
        <p:nvSpPr>
          <p:cNvPr id="44037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400"/>
              <a:t>Methodology:</a:t>
            </a:r>
          </a:p>
          <a:p>
            <a:pPr>
              <a:lnSpc>
                <a:spcPct val="90000"/>
              </a:lnSpc>
            </a:pPr>
            <a:r>
              <a:rPr lang="en-US" sz="2400"/>
              <a:t>Brainstorming phase: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List all the people and organizations affected (the stakeholders)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List risks, issues, problems, and consequences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List benefits. Identify who gets each benefit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In cases where there is no simple yes or no decision, but rather one has to choose some action, list possible actions</a:t>
            </a:r>
          </a:p>
        </p:txBody>
      </p:sp>
    </p:spTree>
    <p:extLst>
      <p:ext uri="{BB962C8B-B14F-4D97-AF65-F5344CB8AC3E}">
        <p14:creationId xmlns:p14="http://schemas.microsoft.com/office/powerpoint/2010/main" val="16997179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Scenarios (cont.)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2400"/>
              <a:t>Methodology:</a:t>
            </a:r>
          </a:p>
          <a:p>
            <a:pPr>
              <a:lnSpc>
                <a:spcPct val="80000"/>
              </a:lnSpc>
            </a:pPr>
            <a:r>
              <a:rPr lang="en-US" sz="2400"/>
              <a:t>Analysis phase</a:t>
            </a:r>
          </a:p>
          <a:p>
            <a:pPr lvl="1">
              <a:lnSpc>
                <a:spcPct val="80000"/>
              </a:lnSpc>
            </a:pPr>
            <a:r>
              <a:rPr lang="en-US" sz="2400"/>
              <a:t>Identify responsibilities of the decision maker</a:t>
            </a:r>
          </a:p>
          <a:p>
            <a:pPr lvl="1">
              <a:lnSpc>
                <a:spcPct val="80000"/>
              </a:lnSpc>
            </a:pPr>
            <a:r>
              <a:rPr lang="en-US" sz="2400"/>
              <a:t>Identify rights of stakeholders</a:t>
            </a:r>
          </a:p>
          <a:p>
            <a:pPr lvl="1">
              <a:lnSpc>
                <a:spcPct val="80000"/>
              </a:lnSpc>
            </a:pPr>
            <a:r>
              <a:rPr lang="en-US" sz="2400"/>
              <a:t>Consider the impact of the options on the stakeholders (consequences, risks, benefits, harms, costs)</a:t>
            </a:r>
          </a:p>
          <a:p>
            <a:pPr lvl="1">
              <a:lnSpc>
                <a:spcPct val="80000"/>
              </a:lnSpc>
            </a:pPr>
            <a:r>
              <a:rPr lang="en-US" sz="2400"/>
              <a:t>Categorize each potential action as ethically obligatory, prohibited, or acceptable</a:t>
            </a:r>
          </a:p>
          <a:p>
            <a:pPr lvl="1">
              <a:lnSpc>
                <a:spcPct val="80000"/>
              </a:lnSpc>
            </a:pPr>
            <a:r>
              <a:rPr lang="en-US" sz="2400"/>
              <a:t>When there are multiple options, select one, considering the ethical merits of each, courtesy to others, practicality, self-interest, personal preferences, etc.</a:t>
            </a:r>
          </a:p>
        </p:txBody>
      </p:sp>
    </p:spTree>
    <p:extLst>
      <p:ext uri="{BB962C8B-B14F-4D97-AF65-F5344CB8AC3E}">
        <p14:creationId xmlns:p14="http://schemas.microsoft.com/office/powerpoint/2010/main" val="24558271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Scenarios (cont.)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Webcams in School Laptops</a:t>
            </a:r>
            <a:endParaRPr lang="en-US" dirty="0"/>
          </a:p>
          <a:p>
            <a:pPr marL="0" indent="0" algn="just">
              <a:buNone/>
            </a:pPr>
            <a:r>
              <a:rPr lang="en-US" dirty="0"/>
              <a:t>As part of your responsibilities, you oversee the installation of software packages for large orders. A recent order of laptops for a local school requires webcam software to be loaded. You know that this software allows for remote  activation of the webcam . As a computer professional what are your ethical responsibilities . Explain with reference to  brain storming and analysis phase  and SE/ACM Codes of  ethics and professional practice.</a:t>
            </a:r>
          </a:p>
        </p:txBody>
      </p:sp>
    </p:spTree>
    <p:extLst>
      <p:ext uri="{BB962C8B-B14F-4D97-AF65-F5344CB8AC3E}">
        <p14:creationId xmlns:p14="http://schemas.microsoft.com/office/powerpoint/2010/main" val="8773884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Ethical decision making: Case 2</a:t>
            </a:r>
          </a:p>
        </p:txBody>
      </p:sp>
      <p:sp>
        <p:nvSpPr>
          <p:cNvPr id="1228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Three years ago, Aisha started her own consulting business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She is so successful she now has several people working for her.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Has many clients.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Includes work such as advising on network architectures, designing </a:t>
            </a:r>
            <a:r>
              <a:rPr lang="en-US" altLang="en-US" dirty="0" err="1">
                <a:latin typeface="Calibri" panose="020F0502020204030204" pitchFamily="34" charset="0"/>
              </a:rPr>
              <a:t>DBMSes</a:t>
            </a:r>
            <a:r>
              <a:rPr lang="en-US" altLang="en-US" dirty="0">
                <a:latin typeface="Calibri" panose="020F0502020204030204" pitchFamily="34" charset="0"/>
              </a:rPr>
              <a:t>, security.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Presently designing a DBMS for the personnel office a medium-sized (100 person) company.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Aisha has involved client in design process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Informs CEO, CTO and human resources head about system progress</a:t>
            </a:r>
          </a:p>
        </p:txBody>
      </p:sp>
    </p:spTree>
    <p:extLst>
      <p:ext uri="{BB962C8B-B14F-4D97-AF65-F5344CB8AC3E}">
        <p14:creationId xmlns:p14="http://schemas.microsoft.com/office/powerpoint/2010/main" val="7420302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Ethical decision making: Case 2 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Now it is time to make decisions about the kind and degree of security to build into system.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Aisha has described several options.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Because of cost overruns, client has decided to opt for a less secure system.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Aisha believes information they will store is extremely sensitive (performance evaluations, medical records for insurance claims, salaries, etc.)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With weak security: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Employees on workstations could figure out how to access this data.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Online intruders would also have access</a:t>
            </a:r>
          </a:p>
        </p:txBody>
      </p:sp>
    </p:spTree>
    <p:extLst>
      <p:ext uri="{BB962C8B-B14F-4D97-AF65-F5344CB8AC3E}">
        <p14:creationId xmlns:p14="http://schemas.microsoft.com/office/powerpoint/2010/main" val="326690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Ethical decision making: Case 2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Calibri" panose="020F0502020204030204" pitchFamily="34" charset="0"/>
              </a:rPr>
              <a:t>Aisha feels strongly that system should be much more secure.</a:t>
            </a:r>
          </a:p>
          <a:p>
            <a:pPr lvl="1" eaLnBrk="1" hangingPunct="1"/>
            <a:r>
              <a:rPr lang="en-US" altLang="en-US" dirty="0">
                <a:latin typeface="Calibri" panose="020F0502020204030204" pitchFamily="34" charset="0"/>
              </a:rPr>
              <a:t>She has tried to explain the risk.</a:t>
            </a:r>
          </a:p>
          <a:p>
            <a:pPr lvl="1" eaLnBrk="1" hangingPunct="1"/>
            <a:r>
              <a:rPr lang="en-US" altLang="en-US" dirty="0">
                <a:latin typeface="Calibri" panose="020F0502020204030204" pitchFamily="34" charset="0"/>
              </a:rPr>
              <a:t>CEO, CTO and HR all agree that less security will do.</a:t>
            </a:r>
          </a:p>
          <a:p>
            <a:pPr eaLnBrk="1" hangingPunct="1"/>
            <a:r>
              <a:rPr lang="en-US" altLang="en-US" dirty="0">
                <a:latin typeface="Calibri" panose="020F0502020204030204" pitchFamily="34" charset="0"/>
              </a:rPr>
              <a:t>What should Aisha so?</a:t>
            </a:r>
          </a:p>
          <a:p>
            <a:pPr lvl="1" eaLnBrk="1" hangingPunct="1"/>
            <a:r>
              <a:rPr lang="en-US" altLang="en-US" dirty="0">
                <a:latin typeface="Calibri" panose="020F0502020204030204" pitchFamily="34" charset="0"/>
              </a:rPr>
              <a:t>Should she refuse to build the system as they request?</a:t>
            </a:r>
          </a:p>
        </p:txBody>
      </p:sp>
    </p:spTree>
    <p:extLst>
      <p:ext uri="{BB962C8B-B14F-4D97-AF65-F5344CB8AC3E}">
        <p14:creationId xmlns:p14="http://schemas.microsoft.com/office/powerpoint/2010/main" val="29750298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Applying the Code: Case 2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This case highlights issues involving privacy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Principle 1.7 deals with privacy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Principle 1.8 deals with confidentiality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Code guidelines state that: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“computer professionals are obligated to preserve the integrity of data about individuals…”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“… from unauthorized access or accidental disclosure to inappropriate individuals”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Code also specifies for organizational leaders: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Principle 3.5 (enhance personal dignity)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Principle 3.4 (assess needs of all those affected by system)</a:t>
            </a:r>
          </a:p>
          <a:p>
            <a:pPr eaLnBrk="1" hangingPunct="1">
              <a:lnSpc>
                <a:spcPct val="80000"/>
              </a:lnSpc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313239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Applying the Code: Case 2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Company officials: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Have an obligation to protect privacy of their employees.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Therefore they should not accept inadequate security.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Aisha’s first obligation: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Attempt to educate company officials (implied by principle 2.7)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If that fails, she needs to consider her contractual obligations (principle 2.6) in honoring assigned responsibilities.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>
                <a:latin typeface="Calibri" panose="020F0502020204030204" pitchFamily="34" charset="0"/>
              </a:rPr>
              <a:t>We don’t have Aisha’s contract, but she may have to choose between her contract and her obligation to honor privacy and security.</a:t>
            </a:r>
          </a:p>
          <a:p>
            <a:pPr lvl="1" eaLnBrk="1" hangingPunct="1">
              <a:lnSpc>
                <a:spcPct val="80000"/>
              </a:lnSpc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280075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188</TotalTime>
  <Words>1340</Words>
  <Application>Microsoft Office PowerPoint</Application>
  <PresentationFormat>Widescreen</PresentationFormat>
  <Paragraphs>142</Paragraphs>
  <Slides>19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FranklinGothicH</vt:lpstr>
      <vt:lpstr>Tw Cen MT</vt:lpstr>
      <vt:lpstr>Tw Cen MT Condensed</vt:lpstr>
      <vt:lpstr>Wingdings 3</vt:lpstr>
      <vt:lpstr>Integral</vt:lpstr>
      <vt:lpstr>ACM Codes of Ethics &amp; professional conduct </vt:lpstr>
      <vt:lpstr>Why should we have a Professional Code of Ethics?</vt:lpstr>
      <vt:lpstr>Why have a Professional Code of Ethics in Computing?</vt:lpstr>
      <vt:lpstr>What is "Professional Ethics"?</vt:lpstr>
      <vt:lpstr>Ethical Guidelines for Computer Professionals</vt:lpstr>
      <vt:lpstr>Ethical Guidelines for Computer . . . (cont.)</vt:lpstr>
      <vt:lpstr>ACM Code</vt:lpstr>
      <vt:lpstr>ACM Code of Ethics (1)</vt:lpstr>
      <vt:lpstr>ACM Code of Ethics (2)</vt:lpstr>
      <vt:lpstr>ACM Code of Ethics (3)</vt:lpstr>
      <vt:lpstr>ACM Code of Ethics (4)</vt:lpstr>
      <vt:lpstr>Scenarios</vt:lpstr>
      <vt:lpstr>Scenarios (cont.)</vt:lpstr>
      <vt:lpstr>Scenarios (cont.)</vt:lpstr>
      <vt:lpstr>Ethical decision making: Case 2</vt:lpstr>
      <vt:lpstr>Ethical decision making: Case 2 </vt:lpstr>
      <vt:lpstr>Ethical decision making: Case 2</vt:lpstr>
      <vt:lpstr>Applying the Code: Case 2</vt:lpstr>
      <vt:lpstr>Applying the Code: Case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sadaf.baloch</dc:creator>
  <cp:lastModifiedBy>Asbah Shujaat</cp:lastModifiedBy>
  <cp:revision>23</cp:revision>
  <cp:lastPrinted>2018-08-06T07:23:23Z</cp:lastPrinted>
  <dcterms:created xsi:type="dcterms:W3CDTF">2018-08-06T06:29:11Z</dcterms:created>
  <dcterms:modified xsi:type="dcterms:W3CDTF">2025-10-23T02:05:58Z</dcterms:modified>
</cp:coreProperties>
</file>